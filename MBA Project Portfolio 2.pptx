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1" r:id="rId5"/>
    <p:sldId id="262" r:id="rId6"/>
    <p:sldId id="263" r:id="rId7"/>
    <p:sldId id="678" r:id="rId8"/>
    <p:sldId id="679" r:id="rId9"/>
    <p:sldId id="677" r:id="rId10"/>
    <p:sldId id="680" r:id="rId11"/>
    <p:sldId id="681" r:id="rId12"/>
    <p:sldId id="682" r:id="rId13"/>
    <p:sldId id="68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71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3B6504-A0A2-41AF-A090-87C174AB959A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110C8F-89C1-45F8-9E8E-F1739D7AB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05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CD1E7-25B9-3F83-D845-0266B921F3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3445BE-D0F9-ED4B-677E-5791FACFED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0850A-04E6-2131-450F-38AD7835B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AC1CF-1FAC-43EC-B3AA-71E790E02424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80889-0D6C-9066-B7BD-752C3E723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B22DC-B7F5-A3D4-CAA4-3C705C8CA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39849-C024-4E78-B92E-190B74CFF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5548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>
        <p:push dir="u"/>
      </p:transition>
    </mc:Choice>
    <mc:Fallback>
      <p:transition spd="slow" advClick="0" advTm="100">
        <p:push dir="u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B01A1-67F3-5F06-8E88-49A5822A6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0A77A-0824-3BC1-7A31-629EAED87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3B05C-4B00-6C22-3ECF-BA5531C50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D3A48-0F24-4970-BF56-4EDEB4578B76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00488-2C84-306D-7527-9A60D726E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7CAC8-CA84-86E2-9352-24539F297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39849-C024-4E78-B92E-190B74CFF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1834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>
        <p:push dir="u"/>
      </p:transition>
    </mc:Choice>
    <mc:Fallback>
      <p:transition spd="slow" advClick="0" advTm="100">
        <p:push dir="u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DA19F78-D812-9E7D-9EA1-47358936B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6D8AF1-3340-66C7-EE1C-717B1F803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E06FA3-B131-65B4-A885-C0BEC0D15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D68B2-BC1D-F5E9-3895-11854DE56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AB9E2-7EB8-4E84-9FD4-8613AA7CC86D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DE8B4-D73B-ADE3-3A86-1D5885E05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C76A26-FE80-AB9E-E122-386C8BA99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39849-C024-4E78-B92E-190B74CFF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142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>
        <p:push dir="u"/>
      </p:transition>
    </mc:Choice>
    <mc:Fallback>
      <p:transition spd="slow" advClick="0" advTm="100">
        <p:push dir="u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C414B-3C97-7365-51E4-EC1811906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4B241-6019-3948-280C-C6C3D1806E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F24108-EE76-B8CF-64B3-932809AB2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80C274-3E52-BAF0-38FD-51DE563E6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F383E-FAB0-4607-B257-058808D219A3}" type="datetime1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30B9F-AEAC-E77B-AE2E-0294C0228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B4CF6D-CD6A-A856-F007-8ADA60302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39849-C024-4E78-B92E-190B74CFF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5300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>
        <p:push dir="u"/>
      </p:transition>
    </mc:Choice>
    <mc:Fallback>
      <p:transition spd="slow" advClick="0" advTm="100">
        <p:push dir="u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B40BB-DFE1-124E-AC3C-78EFF7F2E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4B8C9-8E89-A869-650C-FDA069AB9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14C183-4C4F-0258-BCA4-BA925E5A7D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64F7A1-6460-C194-9D59-8AC8E1ACA3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91CB48-D09D-5F3C-336B-012276E79B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F935E1-3A2B-F7A0-CA21-464435CDC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089DD-4800-42D1-922E-01BB3B3577F8}" type="datetime1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A74846-7763-3DC3-6BEB-24857CBE6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EC0A41-E1C4-2FE4-9FE0-6349231EB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39849-C024-4E78-B92E-190B74CFF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4040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>
        <p:push dir="u"/>
      </p:transition>
    </mc:Choice>
    <mc:Fallback>
      <p:transition spd="slow" advClick="0" advTm="100">
        <p:push dir="u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EC5A4-9F1D-840F-3AC9-D69AF51EA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A65E1B-C659-906D-4D5B-44D19FFA3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BD31B-CE93-417A-B8E3-3D598B026C48}" type="datetime1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61BF73-6ADA-8C03-7F17-478700CAD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438A6E-9717-F592-45EA-A72BC80DE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39849-C024-4E78-B92E-190B74CFF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2257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>
        <p:push dir="u"/>
      </p:transition>
    </mc:Choice>
    <mc:Fallback>
      <p:transition spd="slow" advClick="0" advTm="100">
        <p:push dir="u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C61829-68C4-E248-02CF-4A69DF6E2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B9643-5DF8-4B2F-A684-3ECE2CC8AE32}" type="datetime1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F85C9E-165F-6D82-AF36-A1EF3E1E1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3422C-D6EF-7D57-EFA7-3C712B5D7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39849-C024-4E78-B92E-190B74CFF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2163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>
        <p:push dir="u"/>
      </p:transition>
    </mc:Choice>
    <mc:Fallback>
      <p:transition spd="slow" advClick="0" advTm="100">
        <p:push dir="u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FFF74-ED1B-C301-DBF0-5253A0917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6F5DF-9035-8359-9E71-FDDC421C3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4BA052-6E85-1FAE-5630-9E78834FA9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C453B2-9A02-AA48-511B-E3A8612A0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5070F-7FC1-4F3E-AA92-654D298FE853}" type="datetime1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A2381-6EF5-9DA3-CECA-1BB531AC2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0ECCD9-86C4-78E3-33D9-4E97D628C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39849-C024-4E78-B92E-190B74CFF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8379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>
        <p:push dir="u"/>
      </p:transition>
    </mc:Choice>
    <mc:Fallback>
      <p:transition spd="slow" advClick="0" advTm="100">
        <p:push dir="u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9599F-B858-209F-C0FD-002CEC17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45CE31-AF42-07B7-5B31-2A74351570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7582AE-A805-146F-54A0-7F7111392F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7E5B9B-57C6-FB57-53CF-DF7151734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4AA9-CE3D-4610-B9E6-47F36B67B795}" type="datetime1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CEC37-763B-CF94-E2FC-F10305360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8721C3-DE50-422C-71B6-F8D19801A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39849-C024-4E78-B92E-190B74CFF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7373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>
        <p:push dir="u"/>
      </p:transition>
    </mc:Choice>
    <mc:Fallback>
      <p:transition spd="slow" advClick="0" advTm="100">
        <p:push dir="u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9666E-D7E8-A749-D791-E15B33232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3E42C4-D995-DBCF-9503-9F3D04C991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86847-EE00-0194-979F-6A967FC61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BE842-A5F6-4FCF-A4DB-AD95E8183B70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537ED-9E78-6DB5-F55E-C58775BE4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3B379-1BFB-D2C5-675D-2A78892BA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39849-C024-4E78-B92E-190B74CFF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6085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>
        <p:push dir="u"/>
      </p:transition>
    </mc:Choice>
    <mc:Fallback>
      <p:transition spd="slow" advClick="0" advTm="100">
        <p:push dir="u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3B0446-E5FB-7A31-F9AA-DAE2477DC0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4BC843-35E4-565B-AAB6-4DBE04F667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CEC7A-39D1-79AB-35EE-3BE01BC7A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EE04C-E7BD-44E4-86B6-B67BDF2BD7B6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25CA69-FE04-0CB7-C974-5B5FD8958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A6363-FD69-7763-9AD0-659982F18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39849-C024-4E78-B92E-190B74CFF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8185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>
        <p:push dir="u"/>
      </p:transition>
    </mc:Choice>
    <mc:Fallback>
      <p:transition spd="slow" advClick="0" advTm="100">
        <p:push dir="u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1261253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>
        <p:push dir="u"/>
      </p:transition>
    </mc:Choice>
    <mc:Fallback>
      <p:transition spd="slow" advClick="0" advTm="100">
        <p:push dir="u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F85888-410F-3CFA-77ED-9F25C86C0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7B903-D184-782F-3E45-1E5E57938C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9925C-18A6-2685-66D2-C10347078A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D3FF1D-AACC-4A20-A7CF-CD5C27B065BA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55ADC-E01C-825F-94AC-9B64E4E893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3CB1B-DBCF-47C0-2BC2-D2495F8383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B39849-C024-4E78-B92E-190B74CFF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441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spd="slow" p14:dur="2000" advClick="0" advTm="100">
        <p:push dir="u"/>
      </p:transition>
    </mc:Choice>
    <mc:Fallback>
      <p:transition spd="slow" advClick="0" advTm="100">
        <p:push dir="u"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building, outdoor, red&#10;&#10;Description automatically generated">
            <a:extLst>
              <a:ext uri="{FF2B5EF4-FFF2-40B4-BE49-F238E27FC236}">
                <a16:creationId xmlns:a16="http://schemas.microsoft.com/office/drawing/2014/main" id="{F060A110-3241-A4FB-43FA-DB018636C73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73" b="12234"/>
          <a:stretch>
            <a:fillRect/>
          </a:stretch>
        </p:blipFill>
        <p:spPr>
          <a:xfrm>
            <a:off x="1" y="-15392"/>
            <a:ext cx="12192000" cy="68733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6A5E36-AA45-5F0B-5F49-50062A2F5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1122363"/>
            <a:ext cx="9144000" cy="23876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00B0F0"/>
                </a:solidFill>
              </a:rPr>
              <a:t>Materials and Methods in interiors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846F0C-5797-5D76-0D6D-CC4588A9A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3602038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en-US" sz="2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CONSTRUCTION MATERIAL</a:t>
            </a:r>
          </a:p>
        </p:txBody>
      </p:sp>
    </p:spTree>
    <p:extLst>
      <p:ext uri="{BB962C8B-B14F-4D97-AF65-F5344CB8AC3E}">
        <p14:creationId xmlns:p14="http://schemas.microsoft.com/office/powerpoint/2010/main" val="24319188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>
        <p:push dir="u"/>
      </p:transition>
    </mc:Choice>
    <mc:Fallback>
      <p:transition spd="slow" advClick="0" advTm="100">
        <p:push dir="u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82AD6-82EB-1C33-741C-8996363D7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CONSTRUCTION MATERIAL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F272F6-BFDB-E85B-64FE-EB4FBA2EFF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UNIT - 1 </a:t>
            </a:r>
          </a:p>
        </p:txBody>
      </p:sp>
      <p:sp>
        <p:nvSpPr>
          <p:cNvPr id="6" name="Slide Number Placeholder 43">
            <a:extLst>
              <a:ext uri="{FF2B5EF4-FFF2-40B4-BE49-F238E27FC236}">
                <a16:creationId xmlns:a16="http://schemas.microsoft.com/office/drawing/2014/main" id="{2DDA156E-DBA8-E3F7-443F-4339DD0B2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2B39849-C024-4E78-B92E-190B74CFFC73}" type="slidenum">
              <a:rPr lang="en-US" sz="1000" smtClean="0"/>
              <a:t>2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301998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>
        <p:push dir="u"/>
      </p:transition>
    </mc:Choice>
    <mc:Fallback>
      <p:transition spd="slow" advClick="0" advTm="100">
        <p:push dir="u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EF2E7-F6AC-0CEA-73CF-E1BB2C95B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Building Materials</a:t>
            </a:r>
          </a:p>
        </p:txBody>
      </p:sp>
      <p:sp>
        <p:nvSpPr>
          <p:cNvPr id="3" name="Text Box 10">
            <a:extLst>
              <a:ext uri="{FF2B5EF4-FFF2-40B4-BE49-F238E27FC236}">
                <a16:creationId xmlns:a16="http://schemas.microsoft.com/office/drawing/2014/main" id="{759129C6-C75E-BD08-FE3A-0576B85DBE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905409"/>
            <a:ext cx="8543544" cy="365760"/>
          </a:xfrm>
          <a:prstGeom prst="rect">
            <a:avLst/>
          </a:prstGeom>
          <a:solidFill>
            <a:schemeClr val="accent3"/>
          </a:solidFill>
          <a:ln w="12700" algn="ctr">
            <a:noFill/>
            <a:miter lim="800000"/>
            <a:headEnd/>
            <a:tailEnd type="none" w="sm" len="med"/>
          </a:ln>
        </p:spPr>
        <p:txBody>
          <a:bodyPr lIns="88900" tIns="88900" rIns="88900" bIns="88900" anchor="ctr" anchorCtr="0"/>
          <a:lstStyle/>
          <a:p>
            <a:pPr defTabSz="957263" eaLnBrk="1" hangingPunct="1">
              <a:spcBef>
                <a:spcPts val="200"/>
              </a:spcBef>
            </a:pPr>
            <a:r>
              <a:rPr lang="en-US" sz="1200" dirty="0">
                <a:solidFill>
                  <a:schemeClr val="bg1"/>
                </a:solidFill>
                <a:ea typeface="+mn-ea"/>
                <a:cs typeface="Arial" pitchFamily="34" charset="0"/>
              </a:rPr>
              <a:t>Building Materials and Their Importance in Interior Design: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798FE295-27D0-403A-B359-90BFD9B87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259420"/>
            <a:ext cx="8543544" cy="1111317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</p:spPr>
        <p:txBody>
          <a:bodyPr lIns="88900" tIns="88900" rIns="88900" bIns="88900" anchor="t" anchorCtr="0"/>
          <a:lstStyle/>
          <a:p>
            <a:pPr marL="171450" indent="-171450" defTabSz="957263" eaLnBrk="1" hangingPunct="1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ea typeface="+mn-ea"/>
                <a:cs typeface="Arial" pitchFamily="34" charset="0"/>
              </a:rPr>
              <a:t>Building materials: Natural or manufactured substances used in construction of buildings and interior spaces </a:t>
            </a:r>
          </a:p>
          <a:p>
            <a:pPr marL="171450" indent="-171450" defTabSz="957263" eaLnBrk="1" hangingPunct="1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ea typeface="+mn-ea"/>
                <a:cs typeface="Arial" pitchFamily="34" charset="0"/>
              </a:rPr>
              <a:t>In interiors, materials affect:</a:t>
            </a:r>
          </a:p>
          <a:p>
            <a:pPr marL="628650" lvl="1" indent="-171450" defTabSz="957263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ea typeface="+mn-ea"/>
                <a:cs typeface="Arial" pitchFamily="34" charset="0"/>
              </a:rPr>
              <a:t>Durability &amp; safety </a:t>
            </a:r>
          </a:p>
          <a:p>
            <a:pPr marL="628650" lvl="1" indent="-171450" defTabSz="957263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ea typeface="+mn-ea"/>
                <a:cs typeface="Arial" pitchFamily="34" charset="0"/>
              </a:rPr>
              <a:t>Aesthetics &amp; comfort </a:t>
            </a:r>
          </a:p>
          <a:p>
            <a:pPr marL="628650" lvl="1" indent="-171450" defTabSz="957263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ea typeface="+mn-ea"/>
                <a:cs typeface="Arial" pitchFamily="34" charset="0"/>
              </a:rPr>
              <a:t>Cost &amp; sustainability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4CEE5EA-E073-D749-9F0F-B2F7BD513321}"/>
              </a:ext>
            </a:extLst>
          </p:cNvPr>
          <p:cNvGrpSpPr/>
          <p:nvPr/>
        </p:nvGrpSpPr>
        <p:grpSpPr>
          <a:xfrm>
            <a:off x="838200" y="3577324"/>
            <a:ext cx="8543544" cy="1864792"/>
            <a:chOff x="838200" y="3511880"/>
            <a:chExt cx="10515600" cy="1864792"/>
          </a:xfrm>
        </p:grpSpPr>
        <p:sp>
          <p:nvSpPr>
            <p:cNvPr id="9" name="Text Box 10">
              <a:extLst>
                <a:ext uri="{FF2B5EF4-FFF2-40B4-BE49-F238E27FC236}">
                  <a16:creationId xmlns:a16="http://schemas.microsoft.com/office/drawing/2014/main" id="{EF401B1A-8070-B13A-98BE-F76BA4F9D0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200" y="3511880"/>
              <a:ext cx="10515600" cy="365760"/>
            </a:xfrm>
            <a:prstGeom prst="rect">
              <a:avLst/>
            </a:prstGeom>
            <a:solidFill>
              <a:schemeClr val="accent3"/>
            </a:solidFill>
            <a:ln w="12700" algn="ctr">
              <a:noFill/>
              <a:miter lim="800000"/>
              <a:headEnd/>
              <a:tailEnd type="none" w="sm" len="med"/>
            </a:ln>
          </p:spPr>
          <p:txBody>
            <a:bodyPr lIns="88900" tIns="88900" rIns="88900" bIns="88900" anchor="ctr" anchorCtr="0"/>
            <a:lstStyle/>
            <a:p>
              <a:pPr defTabSz="957263" eaLnBrk="1" hangingPunct="1">
                <a:spcBef>
                  <a:spcPts val="200"/>
                </a:spcBef>
              </a:pPr>
              <a:r>
                <a:rPr lang="en-US" sz="1200" dirty="0">
                  <a:solidFill>
                    <a:schemeClr val="bg1"/>
                  </a:solidFill>
                  <a:ea typeface="+mn-ea"/>
                  <a:cs typeface="Arial" pitchFamily="34" charset="0"/>
                </a:rPr>
                <a:t>Factors Affecting Selection of Materials:</a:t>
              </a:r>
            </a:p>
          </p:txBody>
        </p:sp>
        <p:sp>
          <p:nvSpPr>
            <p:cNvPr id="10" name="Rectangle 11">
              <a:extLst>
                <a:ext uri="{FF2B5EF4-FFF2-40B4-BE49-F238E27FC236}">
                  <a16:creationId xmlns:a16="http://schemas.microsoft.com/office/drawing/2014/main" id="{8544DDB4-18FE-7D97-AAC1-6D6F63221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" y="3865891"/>
              <a:ext cx="10515600" cy="1510781"/>
            </a:xfrm>
            <a:prstGeom prst="rect">
              <a:avLst/>
            </a:prstGeom>
            <a:solidFill>
              <a:schemeClr val="bg2"/>
            </a:solidFill>
            <a:ln w="12700" algn="ctr">
              <a:noFill/>
              <a:miter lim="800000"/>
              <a:headEnd/>
              <a:tailEnd/>
            </a:ln>
          </p:spPr>
          <p:txBody>
            <a:bodyPr lIns="88900" tIns="88900" rIns="88900" bIns="88900" anchor="t" anchorCtr="0"/>
            <a:lstStyle/>
            <a:p>
              <a:pPr marL="171450" indent="-171450" defTabSz="957263" eaLnBrk="1" hangingPunct="1">
                <a:spcBef>
                  <a:spcPts val="2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en-US" sz="1100" b="1" dirty="0">
                  <a:ea typeface="+mn-ea"/>
                  <a:cs typeface="Arial" pitchFamily="34" charset="0"/>
                </a:rPr>
                <a:t>Strength &amp; Durability </a:t>
              </a:r>
              <a:r>
                <a:rPr lang="en-US" sz="1100" dirty="0">
                  <a:ea typeface="+mn-ea"/>
                  <a:cs typeface="Arial" pitchFamily="34" charset="0"/>
                </a:rPr>
                <a:t>– Ability to withstand loads, weathering, and usage.</a:t>
              </a:r>
            </a:p>
            <a:p>
              <a:pPr marL="171450" indent="-171450" defTabSz="957263" eaLnBrk="1" hangingPunct="1">
                <a:spcBef>
                  <a:spcPts val="2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en-US" sz="1100" b="1" dirty="0">
                  <a:ea typeface="+mn-ea"/>
                  <a:cs typeface="Arial" pitchFamily="34" charset="0"/>
                </a:rPr>
                <a:t>Cost &amp; Availability</a:t>
              </a:r>
              <a:r>
                <a:rPr lang="en-US" sz="1100" dirty="0">
                  <a:ea typeface="+mn-ea"/>
                  <a:cs typeface="Arial" pitchFamily="34" charset="0"/>
                </a:rPr>
                <a:t> – Locally available and affordable materials are preferable.</a:t>
              </a:r>
              <a:endParaRPr lang="en-US" sz="1100" b="1" dirty="0">
                <a:ea typeface="+mn-ea"/>
                <a:cs typeface="Arial" pitchFamily="34" charset="0"/>
              </a:endParaRPr>
            </a:p>
            <a:p>
              <a:pPr marL="171450" indent="-171450" defTabSz="957263" eaLnBrk="1" hangingPunct="1">
                <a:spcBef>
                  <a:spcPts val="2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en-US" sz="1100" b="1" dirty="0">
                  <a:ea typeface="+mn-ea"/>
                  <a:cs typeface="Arial" pitchFamily="34" charset="0"/>
                </a:rPr>
                <a:t>Workability </a:t>
              </a:r>
              <a:r>
                <a:rPr lang="en-US" sz="1100" dirty="0">
                  <a:ea typeface="+mn-ea"/>
                  <a:cs typeface="Arial" pitchFamily="34" charset="0"/>
                </a:rPr>
                <a:t>– Ease of cutting, shaping, fixing, or polishing.</a:t>
              </a:r>
            </a:p>
            <a:p>
              <a:pPr marL="171450" indent="-171450" defTabSz="957263" eaLnBrk="1" hangingPunct="1">
                <a:spcBef>
                  <a:spcPts val="2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en-US" sz="1100" b="1" dirty="0">
                  <a:ea typeface="+mn-ea"/>
                  <a:cs typeface="Arial" pitchFamily="34" charset="0"/>
                </a:rPr>
                <a:t>Aesthetics </a:t>
              </a:r>
              <a:r>
                <a:rPr lang="en-US" sz="1100" dirty="0">
                  <a:ea typeface="+mn-ea"/>
                  <a:cs typeface="Arial" pitchFamily="34" charset="0"/>
                </a:rPr>
                <a:t>– Texture, color, pattern, and finish.</a:t>
              </a:r>
            </a:p>
            <a:p>
              <a:pPr marL="171450" indent="-171450" defTabSz="957263" eaLnBrk="1" hangingPunct="1">
                <a:spcBef>
                  <a:spcPts val="2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en-US" sz="1100" b="1" dirty="0">
                  <a:ea typeface="+mn-ea"/>
                  <a:cs typeface="Arial" pitchFamily="34" charset="0"/>
                </a:rPr>
                <a:t>Maintenance</a:t>
              </a:r>
              <a:r>
                <a:rPr lang="en-US" sz="1100" dirty="0">
                  <a:ea typeface="+mn-ea"/>
                  <a:cs typeface="Arial" pitchFamily="34" charset="0"/>
                </a:rPr>
                <a:t> – Long-term care required.</a:t>
              </a:r>
            </a:p>
            <a:p>
              <a:pPr marL="171450" indent="-171450" defTabSz="957263" eaLnBrk="1" hangingPunct="1">
                <a:spcBef>
                  <a:spcPts val="2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en-US" sz="1100" b="1" dirty="0">
                  <a:ea typeface="+mn-ea"/>
                  <a:cs typeface="Arial" pitchFamily="34" charset="0"/>
                </a:rPr>
                <a:t>Sustainability</a:t>
              </a:r>
              <a:r>
                <a:rPr lang="en-US" sz="1100" dirty="0">
                  <a:ea typeface="+mn-ea"/>
                  <a:cs typeface="Arial" pitchFamily="34" charset="0"/>
                </a:rPr>
                <a:t> – Environmental impact, recyclability, energy efficiency.</a:t>
              </a:r>
              <a:endParaRPr lang="fr-FR" sz="1100" dirty="0">
                <a:ea typeface="+mn-ea"/>
                <a:cs typeface="Arial" pitchFamily="34" charset="0"/>
              </a:endParaRPr>
            </a:p>
          </p:txBody>
        </p:sp>
      </p:grpSp>
      <p:sp>
        <p:nvSpPr>
          <p:cNvPr id="13" name="Text Box 10">
            <a:extLst>
              <a:ext uri="{FF2B5EF4-FFF2-40B4-BE49-F238E27FC236}">
                <a16:creationId xmlns:a16="http://schemas.microsoft.com/office/drawing/2014/main" id="{4ABEBBEA-67D8-432C-9959-6AB0A17BF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5648703"/>
            <a:ext cx="8543544" cy="365760"/>
          </a:xfrm>
          <a:prstGeom prst="rect">
            <a:avLst/>
          </a:prstGeom>
          <a:solidFill>
            <a:schemeClr val="accent3"/>
          </a:solidFill>
          <a:ln w="12700" algn="ctr">
            <a:noFill/>
            <a:miter lim="800000"/>
            <a:headEnd/>
            <a:tailEnd type="none" w="sm" len="med"/>
          </a:ln>
        </p:spPr>
        <p:txBody>
          <a:bodyPr lIns="88900" tIns="88900" rIns="88900" bIns="88900" anchor="ctr" anchorCtr="0"/>
          <a:lstStyle/>
          <a:p>
            <a:pPr defTabSz="957263" eaLnBrk="1" hangingPunct="1">
              <a:spcBef>
                <a:spcPts val="200"/>
              </a:spcBef>
            </a:pPr>
            <a:r>
              <a:rPr lang="en-US" sz="1200" dirty="0">
                <a:solidFill>
                  <a:schemeClr val="bg1"/>
                </a:solidFill>
                <a:ea typeface="+mn-ea"/>
                <a:cs typeface="Arial" pitchFamily="34" charset="0"/>
              </a:rPr>
              <a:t>Common Building Materials:</a:t>
            </a: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64093C57-B7F4-6174-63F8-0CC0CE0563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002715"/>
            <a:ext cx="8543544" cy="471237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</p:spPr>
        <p:txBody>
          <a:bodyPr lIns="88900" tIns="88900" rIns="88900" bIns="88900" anchor="t" anchorCtr="0"/>
          <a:lstStyle/>
          <a:p>
            <a:pPr defTabSz="957263" eaLnBrk="1" hangingPunct="1">
              <a:spcBef>
                <a:spcPts val="200"/>
              </a:spcBef>
              <a:spcAft>
                <a:spcPts val="300"/>
              </a:spcAft>
            </a:pPr>
            <a:r>
              <a:rPr lang="fr-FR" sz="1100" dirty="0">
                <a:ea typeface="+mn-ea"/>
                <a:cs typeface="Arial" pitchFamily="34" charset="0"/>
              </a:rPr>
              <a:t>Bricks, Stones, Cement, </a:t>
            </a:r>
            <a:r>
              <a:rPr lang="fr-FR" sz="1100" dirty="0" err="1">
                <a:ea typeface="+mn-ea"/>
                <a:cs typeface="Arial" pitchFamily="34" charset="0"/>
              </a:rPr>
              <a:t>Mortar</a:t>
            </a:r>
            <a:r>
              <a:rPr lang="fr-FR" sz="1100" dirty="0">
                <a:ea typeface="+mn-ea"/>
                <a:cs typeface="Arial" pitchFamily="34" charset="0"/>
              </a:rPr>
              <a:t>, </a:t>
            </a:r>
            <a:r>
              <a:rPr lang="fr-FR" sz="1100" dirty="0" err="1">
                <a:ea typeface="+mn-ea"/>
                <a:cs typeface="Arial" pitchFamily="34" charset="0"/>
              </a:rPr>
              <a:t>Reinforced</a:t>
            </a:r>
            <a:r>
              <a:rPr lang="fr-FR" sz="1100" dirty="0">
                <a:ea typeface="+mn-ea"/>
                <a:cs typeface="Arial" pitchFamily="34" charset="0"/>
              </a:rPr>
              <a:t> Cement </a:t>
            </a:r>
            <a:r>
              <a:rPr lang="fr-FR" sz="1100" dirty="0" err="1">
                <a:ea typeface="+mn-ea"/>
                <a:cs typeface="Arial" pitchFamily="34" charset="0"/>
              </a:rPr>
              <a:t>Concrete</a:t>
            </a:r>
            <a:r>
              <a:rPr lang="fr-FR" sz="1100" dirty="0">
                <a:ea typeface="+mn-ea"/>
                <a:cs typeface="Arial" pitchFamily="34" charset="0"/>
              </a:rPr>
              <a:t> (R.C.C) </a:t>
            </a:r>
            <a:r>
              <a:rPr lang="fr-FR" sz="1100" dirty="0" err="1">
                <a:ea typeface="+mn-ea"/>
                <a:cs typeface="Arial" pitchFamily="34" charset="0"/>
              </a:rPr>
              <a:t>Metals</a:t>
            </a:r>
            <a:r>
              <a:rPr lang="fr-FR" sz="1100" dirty="0">
                <a:ea typeface="+mn-ea"/>
                <a:cs typeface="Arial" pitchFamily="34" charset="0"/>
              </a:rPr>
              <a:t>, Plastics.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ECCAE5F-0E9C-3305-8F1D-676B19C20B8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820069" y="2271169"/>
            <a:ext cx="1749040" cy="1754182"/>
            <a:chOff x="6522" y="1505"/>
            <a:chExt cx="340" cy="341"/>
          </a:xfrm>
          <a:solidFill>
            <a:schemeClr val="accent2"/>
          </a:solidFill>
        </p:grpSpPr>
        <p:sp>
          <p:nvSpPr>
            <p:cNvPr id="28" name="Freeform 274">
              <a:extLst>
                <a:ext uri="{FF2B5EF4-FFF2-40B4-BE49-F238E27FC236}">
                  <a16:creationId xmlns:a16="http://schemas.microsoft.com/office/drawing/2014/main" id="{E81EE628-982F-D56A-3952-896D8479EF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22" y="1505"/>
              <a:ext cx="340" cy="341"/>
            </a:xfrm>
            <a:custGeom>
              <a:avLst/>
              <a:gdLst>
                <a:gd name="T0" fmla="*/ 256 w 512"/>
                <a:gd name="T1" fmla="*/ 21 h 512"/>
                <a:gd name="T2" fmla="*/ 490 w 512"/>
                <a:gd name="T3" fmla="*/ 256 h 512"/>
                <a:gd name="T4" fmla="*/ 256 w 512"/>
                <a:gd name="T5" fmla="*/ 490 h 512"/>
                <a:gd name="T6" fmla="*/ 21 w 512"/>
                <a:gd name="T7" fmla="*/ 256 h 512"/>
                <a:gd name="T8" fmla="*/ 256 w 512"/>
                <a:gd name="T9" fmla="*/ 21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1"/>
                  </a:moveTo>
                  <a:cubicBezTo>
                    <a:pt x="385" y="21"/>
                    <a:pt x="490" y="126"/>
                    <a:pt x="490" y="256"/>
                  </a:cubicBezTo>
                  <a:cubicBezTo>
                    <a:pt x="490" y="385"/>
                    <a:pt x="385" y="490"/>
                    <a:pt x="256" y="490"/>
                  </a:cubicBezTo>
                  <a:cubicBezTo>
                    <a:pt x="126" y="490"/>
                    <a:pt x="21" y="385"/>
                    <a:pt x="21" y="256"/>
                  </a:cubicBezTo>
                  <a:cubicBezTo>
                    <a:pt x="21" y="126"/>
                    <a:pt x="126" y="21"/>
                    <a:pt x="256" y="21"/>
                  </a:cubicBezTo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</a:path>
              </a:pathLst>
            </a:custGeom>
            <a:grpFill/>
            <a:ln>
              <a:solidFill>
                <a:schemeClr val="tx2"/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9" name="Freeform 275">
              <a:extLst>
                <a:ext uri="{FF2B5EF4-FFF2-40B4-BE49-F238E27FC236}">
                  <a16:creationId xmlns:a16="http://schemas.microsoft.com/office/drawing/2014/main" id="{C1760E5C-0D96-8E5B-B27C-199C59B7A0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84" y="1576"/>
              <a:ext cx="216" cy="185"/>
            </a:xfrm>
            <a:custGeom>
              <a:avLst/>
              <a:gdLst>
                <a:gd name="T0" fmla="*/ 314 w 326"/>
                <a:gd name="T1" fmla="*/ 175 h 278"/>
                <a:gd name="T2" fmla="*/ 291 w 326"/>
                <a:gd name="T3" fmla="*/ 154 h 278"/>
                <a:gd name="T4" fmla="*/ 248 w 326"/>
                <a:gd name="T5" fmla="*/ 44 h 278"/>
                <a:gd name="T6" fmla="*/ 231 w 326"/>
                <a:gd name="T7" fmla="*/ 29 h 278"/>
                <a:gd name="T8" fmla="*/ 195 w 326"/>
                <a:gd name="T9" fmla="*/ 11 h 278"/>
                <a:gd name="T10" fmla="*/ 141 w 326"/>
                <a:gd name="T11" fmla="*/ 0 h 278"/>
                <a:gd name="T12" fmla="*/ 131 w 326"/>
                <a:gd name="T13" fmla="*/ 14 h 278"/>
                <a:gd name="T14" fmla="*/ 83 w 326"/>
                <a:gd name="T15" fmla="*/ 35 h 278"/>
                <a:gd name="T16" fmla="*/ 77 w 326"/>
                <a:gd name="T17" fmla="*/ 50 h 278"/>
                <a:gd name="T18" fmla="*/ 35 w 326"/>
                <a:gd name="T19" fmla="*/ 167 h 278"/>
                <a:gd name="T20" fmla="*/ 4 w 326"/>
                <a:gd name="T21" fmla="*/ 183 h 278"/>
                <a:gd name="T22" fmla="*/ 24 w 326"/>
                <a:gd name="T23" fmla="*/ 262 h 278"/>
                <a:gd name="T24" fmla="*/ 163 w 326"/>
                <a:gd name="T25" fmla="*/ 278 h 278"/>
                <a:gd name="T26" fmla="*/ 301 w 326"/>
                <a:gd name="T27" fmla="*/ 262 h 278"/>
                <a:gd name="T28" fmla="*/ 321 w 326"/>
                <a:gd name="T29" fmla="*/ 183 h 278"/>
                <a:gd name="T30" fmla="*/ 77 w 326"/>
                <a:gd name="T31" fmla="*/ 86 h 278"/>
                <a:gd name="T32" fmla="*/ 88 w 326"/>
                <a:gd name="T33" fmla="*/ 155 h 278"/>
                <a:gd name="T34" fmla="*/ 99 w 326"/>
                <a:gd name="T35" fmla="*/ 51 h 278"/>
                <a:gd name="T36" fmla="*/ 131 w 326"/>
                <a:gd name="T37" fmla="*/ 36 h 278"/>
                <a:gd name="T38" fmla="*/ 124 w 326"/>
                <a:gd name="T39" fmla="*/ 91 h 278"/>
                <a:gd name="T40" fmla="*/ 142 w 326"/>
                <a:gd name="T41" fmla="*/ 102 h 278"/>
                <a:gd name="T42" fmla="*/ 152 w 326"/>
                <a:gd name="T43" fmla="*/ 83 h 278"/>
                <a:gd name="T44" fmla="*/ 152 w 326"/>
                <a:gd name="T45" fmla="*/ 22 h 278"/>
                <a:gd name="T46" fmla="*/ 173 w 326"/>
                <a:gd name="T47" fmla="*/ 22 h 278"/>
                <a:gd name="T48" fmla="*/ 173 w 326"/>
                <a:gd name="T49" fmla="*/ 83 h 278"/>
                <a:gd name="T50" fmla="*/ 184 w 326"/>
                <a:gd name="T51" fmla="*/ 102 h 278"/>
                <a:gd name="T52" fmla="*/ 202 w 326"/>
                <a:gd name="T53" fmla="*/ 91 h 278"/>
                <a:gd name="T54" fmla="*/ 195 w 326"/>
                <a:gd name="T55" fmla="*/ 36 h 278"/>
                <a:gd name="T56" fmla="*/ 227 w 326"/>
                <a:gd name="T57" fmla="*/ 51 h 278"/>
                <a:gd name="T58" fmla="*/ 237 w 326"/>
                <a:gd name="T59" fmla="*/ 155 h 278"/>
                <a:gd name="T60" fmla="*/ 248 w 326"/>
                <a:gd name="T61" fmla="*/ 86 h 278"/>
                <a:gd name="T62" fmla="*/ 269 w 326"/>
                <a:gd name="T63" fmla="*/ 188 h 278"/>
                <a:gd name="T64" fmla="*/ 227 w 326"/>
                <a:gd name="T65" fmla="*/ 182 h 278"/>
                <a:gd name="T66" fmla="*/ 99 w 326"/>
                <a:gd name="T67" fmla="*/ 182 h 278"/>
                <a:gd name="T68" fmla="*/ 56 w 326"/>
                <a:gd name="T69" fmla="*/ 188 h 278"/>
                <a:gd name="T70" fmla="*/ 205 w 326"/>
                <a:gd name="T71" fmla="*/ 182 h 278"/>
                <a:gd name="T72" fmla="*/ 120 w 326"/>
                <a:gd name="T73" fmla="*/ 182 h 278"/>
                <a:gd name="T74" fmla="*/ 205 w 326"/>
                <a:gd name="T75" fmla="*/ 182 h 278"/>
                <a:gd name="T76" fmla="*/ 284 w 326"/>
                <a:gd name="T77" fmla="*/ 249 h 278"/>
                <a:gd name="T78" fmla="*/ 41 w 326"/>
                <a:gd name="T79" fmla="*/ 249 h 278"/>
                <a:gd name="T80" fmla="*/ 24 w 326"/>
                <a:gd name="T81" fmla="*/ 193 h 278"/>
                <a:gd name="T82" fmla="*/ 35 w 326"/>
                <a:gd name="T83" fmla="*/ 192 h 278"/>
                <a:gd name="T84" fmla="*/ 114 w 326"/>
                <a:gd name="T85" fmla="*/ 224 h 278"/>
                <a:gd name="T86" fmla="*/ 115 w 326"/>
                <a:gd name="T87" fmla="*/ 224 h 278"/>
                <a:gd name="T88" fmla="*/ 210 w 326"/>
                <a:gd name="T89" fmla="*/ 224 h 278"/>
                <a:gd name="T90" fmla="*/ 212 w 326"/>
                <a:gd name="T91" fmla="*/ 224 h 278"/>
                <a:gd name="T92" fmla="*/ 291 w 326"/>
                <a:gd name="T93" fmla="*/ 192 h 278"/>
                <a:gd name="T94" fmla="*/ 302 w 326"/>
                <a:gd name="T95" fmla="*/ 193 h 278"/>
                <a:gd name="T96" fmla="*/ 131 w 326"/>
                <a:gd name="T97" fmla="*/ 182 h 278"/>
                <a:gd name="T98" fmla="*/ 195 w 326"/>
                <a:gd name="T99" fmla="*/ 182 h 278"/>
                <a:gd name="T100" fmla="*/ 131 w 326"/>
                <a:gd name="T101" fmla="*/ 182 h 278"/>
                <a:gd name="T102" fmla="*/ 163 w 326"/>
                <a:gd name="T103" fmla="*/ 192 h 278"/>
                <a:gd name="T104" fmla="*/ 163 w 326"/>
                <a:gd name="T105" fmla="*/ 171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26" h="278">
                  <a:moveTo>
                    <a:pt x="321" y="183"/>
                  </a:moveTo>
                  <a:cubicBezTo>
                    <a:pt x="321" y="179"/>
                    <a:pt x="318" y="176"/>
                    <a:pt x="314" y="175"/>
                  </a:cubicBezTo>
                  <a:cubicBezTo>
                    <a:pt x="291" y="167"/>
                    <a:pt x="291" y="167"/>
                    <a:pt x="291" y="167"/>
                  </a:cubicBezTo>
                  <a:cubicBezTo>
                    <a:pt x="291" y="154"/>
                    <a:pt x="291" y="154"/>
                    <a:pt x="291" y="154"/>
                  </a:cubicBezTo>
                  <a:cubicBezTo>
                    <a:pt x="291" y="119"/>
                    <a:pt x="275" y="80"/>
                    <a:pt x="248" y="50"/>
                  </a:cubicBezTo>
                  <a:cubicBezTo>
                    <a:pt x="248" y="44"/>
                    <a:pt x="248" y="44"/>
                    <a:pt x="248" y="44"/>
                  </a:cubicBezTo>
                  <a:cubicBezTo>
                    <a:pt x="248" y="40"/>
                    <a:pt x="246" y="37"/>
                    <a:pt x="242" y="35"/>
                  </a:cubicBezTo>
                  <a:cubicBezTo>
                    <a:pt x="238" y="33"/>
                    <a:pt x="234" y="31"/>
                    <a:pt x="231" y="29"/>
                  </a:cubicBezTo>
                  <a:cubicBezTo>
                    <a:pt x="219" y="23"/>
                    <a:pt x="209" y="17"/>
                    <a:pt x="195" y="14"/>
                  </a:cubicBezTo>
                  <a:cubicBezTo>
                    <a:pt x="195" y="11"/>
                    <a:pt x="195" y="11"/>
                    <a:pt x="195" y="11"/>
                  </a:cubicBezTo>
                  <a:cubicBezTo>
                    <a:pt x="195" y="5"/>
                    <a:pt x="190" y="0"/>
                    <a:pt x="184" y="0"/>
                  </a:cubicBezTo>
                  <a:cubicBezTo>
                    <a:pt x="141" y="0"/>
                    <a:pt x="141" y="0"/>
                    <a:pt x="141" y="0"/>
                  </a:cubicBezTo>
                  <a:cubicBezTo>
                    <a:pt x="135" y="0"/>
                    <a:pt x="131" y="5"/>
                    <a:pt x="131" y="11"/>
                  </a:cubicBezTo>
                  <a:cubicBezTo>
                    <a:pt x="131" y="14"/>
                    <a:pt x="131" y="14"/>
                    <a:pt x="131" y="14"/>
                  </a:cubicBezTo>
                  <a:cubicBezTo>
                    <a:pt x="117" y="17"/>
                    <a:pt x="107" y="23"/>
                    <a:pt x="94" y="29"/>
                  </a:cubicBezTo>
                  <a:cubicBezTo>
                    <a:pt x="91" y="31"/>
                    <a:pt x="87" y="33"/>
                    <a:pt x="83" y="35"/>
                  </a:cubicBezTo>
                  <a:cubicBezTo>
                    <a:pt x="80" y="37"/>
                    <a:pt x="77" y="40"/>
                    <a:pt x="77" y="44"/>
                  </a:cubicBezTo>
                  <a:cubicBezTo>
                    <a:pt x="77" y="50"/>
                    <a:pt x="77" y="50"/>
                    <a:pt x="77" y="50"/>
                  </a:cubicBezTo>
                  <a:cubicBezTo>
                    <a:pt x="51" y="80"/>
                    <a:pt x="35" y="119"/>
                    <a:pt x="35" y="154"/>
                  </a:cubicBezTo>
                  <a:cubicBezTo>
                    <a:pt x="35" y="167"/>
                    <a:pt x="35" y="167"/>
                    <a:pt x="35" y="167"/>
                  </a:cubicBezTo>
                  <a:cubicBezTo>
                    <a:pt x="11" y="175"/>
                    <a:pt x="11" y="175"/>
                    <a:pt x="11" y="175"/>
                  </a:cubicBezTo>
                  <a:cubicBezTo>
                    <a:pt x="7" y="176"/>
                    <a:pt x="5" y="179"/>
                    <a:pt x="4" y="183"/>
                  </a:cubicBezTo>
                  <a:cubicBezTo>
                    <a:pt x="3" y="185"/>
                    <a:pt x="0" y="204"/>
                    <a:pt x="3" y="218"/>
                  </a:cubicBezTo>
                  <a:cubicBezTo>
                    <a:pt x="7" y="232"/>
                    <a:pt x="22" y="259"/>
                    <a:pt x="24" y="262"/>
                  </a:cubicBezTo>
                  <a:cubicBezTo>
                    <a:pt x="25" y="263"/>
                    <a:pt x="25" y="263"/>
                    <a:pt x="26" y="264"/>
                  </a:cubicBezTo>
                  <a:cubicBezTo>
                    <a:pt x="36" y="275"/>
                    <a:pt x="106" y="278"/>
                    <a:pt x="163" y="278"/>
                  </a:cubicBezTo>
                  <a:cubicBezTo>
                    <a:pt x="219" y="278"/>
                    <a:pt x="289" y="275"/>
                    <a:pt x="300" y="264"/>
                  </a:cubicBezTo>
                  <a:cubicBezTo>
                    <a:pt x="300" y="263"/>
                    <a:pt x="301" y="263"/>
                    <a:pt x="301" y="262"/>
                  </a:cubicBezTo>
                  <a:cubicBezTo>
                    <a:pt x="303" y="259"/>
                    <a:pt x="318" y="232"/>
                    <a:pt x="322" y="218"/>
                  </a:cubicBezTo>
                  <a:cubicBezTo>
                    <a:pt x="326" y="204"/>
                    <a:pt x="322" y="185"/>
                    <a:pt x="321" y="183"/>
                  </a:cubicBezTo>
                  <a:close/>
                  <a:moveTo>
                    <a:pt x="56" y="154"/>
                  </a:moveTo>
                  <a:cubicBezTo>
                    <a:pt x="56" y="126"/>
                    <a:pt x="67" y="103"/>
                    <a:pt x="77" y="86"/>
                  </a:cubicBezTo>
                  <a:cubicBezTo>
                    <a:pt x="77" y="144"/>
                    <a:pt x="77" y="144"/>
                    <a:pt x="77" y="144"/>
                  </a:cubicBezTo>
                  <a:cubicBezTo>
                    <a:pt x="77" y="150"/>
                    <a:pt x="82" y="155"/>
                    <a:pt x="88" y="155"/>
                  </a:cubicBezTo>
                  <a:cubicBezTo>
                    <a:pt x="94" y="155"/>
                    <a:pt x="99" y="150"/>
                    <a:pt x="99" y="144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0"/>
                    <a:pt x="102" y="49"/>
                    <a:pt x="104" y="48"/>
                  </a:cubicBezTo>
                  <a:cubicBezTo>
                    <a:pt x="114" y="43"/>
                    <a:pt x="122" y="39"/>
                    <a:pt x="131" y="36"/>
                  </a:cubicBezTo>
                  <a:cubicBezTo>
                    <a:pt x="131" y="80"/>
                    <a:pt x="131" y="80"/>
                    <a:pt x="131" y="80"/>
                  </a:cubicBezTo>
                  <a:cubicBezTo>
                    <a:pt x="124" y="91"/>
                    <a:pt x="124" y="91"/>
                    <a:pt x="124" y="91"/>
                  </a:cubicBezTo>
                  <a:cubicBezTo>
                    <a:pt x="121" y="96"/>
                    <a:pt x="122" y="102"/>
                    <a:pt x="127" y="105"/>
                  </a:cubicBezTo>
                  <a:cubicBezTo>
                    <a:pt x="132" y="108"/>
                    <a:pt x="139" y="107"/>
                    <a:pt x="142" y="102"/>
                  </a:cubicBezTo>
                  <a:cubicBezTo>
                    <a:pt x="150" y="88"/>
                    <a:pt x="150" y="88"/>
                    <a:pt x="150" y="88"/>
                  </a:cubicBezTo>
                  <a:cubicBezTo>
                    <a:pt x="151" y="87"/>
                    <a:pt x="152" y="85"/>
                    <a:pt x="152" y="83"/>
                  </a:cubicBezTo>
                  <a:cubicBezTo>
                    <a:pt x="152" y="23"/>
                    <a:pt x="152" y="23"/>
                    <a:pt x="152" y="23"/>
                  </a:cubicBezTo>
                  <a:cubicBezTo>
                    <a:pt x="152" y="23"/>
                    <a:pt x="152" y="23"/>
                    <a:pt x="152" y="22"/>
                  </a:cubicBezTo>
                  <a:cubicBezTo>
                    <a:pt x="152" y="22"/>
                    <a:pt x="152" y="22"/>
                    <a:pt x="152" y="22"/>
                  </a:cubicBezTo>
                  <a:cubicBezTo>
                    <a:pt x="173" y="22"/>
                    <a:pt x="173" y="22"/>
                    <a:pt x="173" y="22"/>
                  </a:cubicBezTo>
                  <a:cubicBezTo>
                    <a:pt x="173" y="23"/>
                    <a:pt x="173" y="23"/>
                    <a:pt x="173" y="23"/>
                  </a:cubicBezTo>
                  <a:cubicBezTo>
                    <a:pt x="173" y="83"/>
                    <a:pt x="173" y="83"/>
                    <a:pt x="173" y="83"/>
                  </a:cubicBezTo>
                  <a:cubicBezTo>
                    <a:pt x="173" y="85"/>
                    <a:pt x="174" y="87"/>
                    <a:pt x="175" y="88"/>
                  </a:cubicBezTo>
                  <a:cubicBezTo>
                    <a:pt x="184" y="102"/>
                    <a:pt x="184" y="102"/>
                    <a:pt x="184" y="102"/>
                  </a:cubicBezTo>
                  <a:cubicBezTo>
                    <a:pt x="187" y="107"/>
                    <a:pt x="193" y="108"/>
                    <a:pt x="198" y="105"/>
                  </a:cubicBezTo>
                  <a:cubicBezTo>
                    <a:pt x="203" y="102"/>
                    <a:pt x="205" y="96"/>
                    <a:pt x="202" y="91"/>
                  </a:cubicBezTo>
                  <a:cubicBezTo>
                    <a:pt x="195" y="80"/>
                    <a:pt x="195" y="80"/>
                    <a:pt x="195" y="80"/>
                  </a:cubicBezTo>
                  <a:cubicBezTo>
                    <a:pt x="195" y="36"/>
                    <a:pt x="195" y="36"/>
                    <a:pt x="195" y="36"/>
                  </a:cubicBezTo>
                  <a:cubicBezTo>
                    <a:pt x="204" y="39"/>
                    <a:pt x="211" y="43"/>
                    <a:pt x="221" y="48"/>
                  </a:cubicBezTo>
                  <a:cubicBezTo>
                    <a:pt x="223" y="49"/>
                    <a:pt x="225" y="50"/>
                    <a:pt x="227" y="51"/>
                  </a:cubicBezTo>
                  <a:cubicBezTo>
                    <a:pt x="227" y="144"/>
                    <a:pt x="227" y="144"/>
                    <a:pt x="227" y="144"/>
                  </a:cubicBezTo>
                  <a:cubicBezTo>
                    <a:pt x="227" y="150"/>
                    <a:pt x="231" y="155"/>
                    <a:pt x="237" y="155"/>
                  </a:cubicBezTo>
                  <a:cubicBezTo>
                    <a:pt x="243" y="155"/>
                    <a:pt x="248" y="150"/>
                    <a:pt x="248" y="144"/>
                  </a:cubicBezTo>
                  <a:cubicBezTo>
                    <a:pt x="248" y="86"/>
                    <a:pt x="248" y="86"/>
                    <a:pt x="248" y="86"/>
                  </a:cubicBezTo>
                  <a:cubicBezTo>
                    <a:pt x="259" y="103"/>
                    <a:pt x="269" y="126"/>
                    <a:pt x="269" y="154"/>
                  </a:cubicBezTo>
                  <a:cubicBezTo>
                    <a:pt x="269" y="188"/>
                    <a:pt x="269" y="188"/>
                    <a:pt x="269" y="188"/>
                  </a:cubicBezTo>
                  <a:cubicBezTo>
                    <a:pt x="265" y="191"/>
                    <a:pt x="252" y="197"/>
                    <a:pt x="224" y="201"/>
                  </a:cubicBezTo>
                  <a:cubicBezTo>
                    <a:pt x="226" y="195"/>
                    <a:pt x="227" y="189"/>
                    <a:pt x="227" y="182"/>
                  </a:cubicBezTo>
                  <a:cubicBezTo>
                    <a:pt x="227" y="146"/>
                    <a:pt x="198" y="118"/>
                    <a:pt x="163" y="118"/>
                  </a:cubicBezTo>
                  <a:cubicBezTo>
                    <a:pt x="127" y="118"/>
                    <a:pt x="99" y="146"/>
                    <a:pt x="99" y="182"/>
                  </a:cubicBezTo>
                  <a:cubicBezTo>
                    <a:pt x="99" y="189"/>
                    <a:pt x="100" y="195"/>
                    <a:pt x="102" y="201"/>
                  </a:cubicBezTo>
                  <a:cubicBezTo>
                    <a:pt x="73" y="197"/>
                    <a:pt x="60" y="191"/>
                    <a:pt x="56" y="188"/>
                  </a:cubicBezTo>
                  <a:lnTo>
                    <a:pt x="56" y="154"/>
                  </a:lnTo>
                  <a:close/>
                  <a:moveTo>
                    <a:pt x="205" y="182"/>
                  </a:moveTo>
                  <a:cubicBezTo>
                    <a:pt x="205" y="205"/>
                    <a:pt x="186" y="224"/>
                    <a:pt x="163" y="224"/>
                  </a:cubicBezTo>
                  <a:cubicBezTo>
                    <a:pt x="139" y="224"/>
                    <a:pt x="120" y="205"/>
                    <a:pt x="120" y="182"/>
                  </a:cubicBezTo>
                  <a:cubicBezTo>
                    <a:pt x="120" y="158"/>
                    <a:pt x="139" y="139"/>
                    <a:pt x="163" y="139"/>
                  </a:cubicBezTo>
                  <a:cubicBezTo>
                    <a:pt x="186" y="139"/>
                    <a:pt x="205" y="158"/>
                    <a:pt x="205" y="182"/>
                  </a:cubicBezTo>
                  <a:close/>
                  <a:moveTo>
                    <a:pt x="301" y="213"/>
                  </a:moveTo>
                  <a:cubicBezTo>
                    <a:pt x="299" y="221"/>
                    <a:pt x="289" y="239"/>
                    <a:pt x="284" y="249"/>
                  </a:cubicBezTo>
                  <a:cubicBezTo>
                    <a:pt x="278" y="251"/>
                    <a:pt x="252" y="256"/>
                    <a:pt x="163" y="256"/>
                  </a:cubicBezTo>
                  <a:cubicBezTo>
                    <a:pt x="74" y="256"/>
                    <a:pt x="47" y="251"/>
                    <a:pt x="41" y="249"/>
                  </a:cubicBezTo>
                  <a:cubicBezTo>
                    <a:pt x="36" y="239"/>
                    <a:pt x="26" y="221"/>
                    <a:pt x="24" y="213"/>
                  </a:cubicBezTo>
                  <a:cubicBezTo>
                    <a:pt x="23" y="207"/>
                    <a:pt x="23" y="199"/>
                    <a:pt x="24" y="193"/>
                  </a:cubicBezTo>
                  <a:cubicBezTo>
                    <a:pt x="35" y="190"/>
                    <a:pt x="35" y="190"/>
                    <a:pt x="35" y="190"/>
                  </a:cubicBezTo>
                  <a:cubicBezTo>
                    <a:pt x="35" y="192"/>
                    <a:pt x="35" y="192"/>
                    <a:pt x="35" y="192"/>
                  </a:cubicBezTo>
                  <a:cubicBezTo>
                    <a:pt x="35" y="195"/>
                    <a:pt x="35" y="197"/>
                    <a:pt x="37" y="198"/>
                  </a:cubicBezTo>
                  <a:cubicBezTo>
                    <a:pt x="39" y="202"/>
                    <a:pt x="53" y="218"/>
                    <a:pt x="114" y="224"/>
                  </a:cubicBezTo>
                  <a:cubicBezTo>
                    <a:pt x="114" y="224"/>
                    <a:pt x="115" y="224"/>
                    <a:pt x="115" y="224"/>
                  </a:cubicBezTo>
                  <a:cubicBezTo>
                    <a:pt x="115" y="224"/>
                    <a:pt x="115" y="224"/>
                    <a:pt x="115" y="224"/>
                  </a:cubicBezTo>
                  <a:cubicBezTo>
                    <a:pt x="127" y="237"/>
                    <a:pt x="144" y="246"/>
                    <a:pt x="163" y="246"/>
                  </a:cubicBezTo>
                  <a:cubicBezTo>
                    <a:pt x="182" y="246"/>
                    <a:pt x="199" y="237"/>
                    <a:pt x="210" y="224"/>
                  </a:cubicBezTo>
                  <a:cubicBezTo>
                    <a:pt x="210" y="224"/>
                    <a:pt x="210" y="224"/>
                    <a:pt x="210" y="224"/>
                  </a:cubicBezTo>
                  <a:cubicBezTo>
                    <a:pt x="211" y="224"/>
                    <a:pt x="211" y="224"/>
                    <a:pt x="212" y="224"/>
                  </a:cubicBezTo>
                  <a:cubicBezTo>
                    <a:pt x="272" y="218"/>
                    <a:pt x="286" y="202"/>
                    <a:pt x="289" y="198"/>
                  </a:cubicBezTo>
                  <a:cubicBezTo>
                    <a:pt x="290" y="197"/>
                    <a:pt x="291" y="195"/>
                    <a:pt x="291" y="192"/>
                  </a:cubicBezTo>
                  <a:cubicBezTo>
                    <a:pt x="291" y="190"/>
                    <a:pt x="291" y="190"/>
                    <a:pt x="291" y="190"/>
                  </a:cubicBezTo>
                  <a:cubicBezTo>
                    <a:pt x="302" y="193"/>
                    <a:pt x="302" y="193"/>
                    <a:pt x="302" y="193"/>
                  </a:cubicBezTo>
                  <a:cubicBezTo>
                    <a:pt x="302" y="199"/>
                    <a:pt x="303" y="207"/>
                    <a:pt x="301" y="213"/>
                  </a:cubicBezTo>
                  <a:close/>
                  <a:moveTo>
                    <a:pt x="131" y="182"/>
                  </a:moveTo>
                  <a:cubicBezTo>
                    <a:pt x="131" y="199"/>
                    <a:pt x="145" y="214"/>
                    <a:pt x="163" y="214"/>
                  </a:cubicBezTo>
                  <a:cubicBezTo>
                    <a:pt x="180" y="214"/>
                    <a:pt x="195" y="199"/>
                    <a:pt x="195" y="182"/>
                  </a:cubicBezTo>
                  <a:cubicBezTo>
                    <a:pt x="195" y="164"/>
                    <a:pt x="180" y="150"/>
                    <a:pt x="163" y="150"/>
                  </a:cubicBezTo>
                  <a:cubicBezTo>
                    <a:pt x="145" y="150"/>
                    <a:pt x="131" y="164"/>
                    <a:pt x="131" y="182"/>
                  </a:cubicBezTo>
                  <a:close/>
                  <a:moveTo>
                    <a:pt x="173" y="182"/>
                  </a:moveTo>
                  <a:cubicBezTo>
                    <a:pt x="173" y="188"/>
                    <a:pt x="169" y="192"/>
                    <a:pt x="163" y="192"/>
                  </a:cubicBezTo>
                  <a:cubicBezTo>
                    <a:pt x="157" y="192"/>
                    <a:pt x="152" y="188"/>
                    <a:pt x="152" y="182"/>
                  </a:cubicBezTo>
                  <a:cubicBezTo>
                    <a:pt x="152" y="176"/>
                    <a:pt x="157" y="171"/>
                    <a:pt x="163" y="171"/>
                  </a:cubicBezTo>
                  <a:cubicBezTo>
                    <a:pt x="169" y="171"/>
                    <a:pt x="173" y="176"/>
                    <a:pt x="173" y="182"/>
                  </a:cubicBezTo>
                  <a:close/>
                </a:path>
              </a:pathLst>
            </a:custGeom>
            <a:grpFill/>
            <a:ln>
              <a:solidFill>
                <a:schemeClr val="tx2"/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grpSp>
        <p:nvGrpSpPr>
          <p:cNvPr id="30" name="Group 137">
            <a:extLst>
              <a:ext uri="{FF2B5EF4-FFF2-40B4-BE49-F238E27FC236}">
                <a16:creationId xmlns:a16="http://schemas.microsoft.com/office/drawing/2014/main" id="{BD8D8425-1C2D-2CF6-43D7-19DA93C72DE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820069" y="4390591"/>
            <a:ext cx="1957888" cy="1957888"/>
            <a:chOff x="4032" y="1187"/>
            <a:chExt cx="340" cy="340"/>
          </a:xfrm>
          <a:solidFill>
            <a:schemeClr val="accent2"/>
          </a:solidFill>
        </p:grpSpPr>
        <p:sp>
          <p:nvSpPr>
            <p:cNvPr id="31" name="Freeform 138">
              <a:extLst>
                <a:ext uri="{FF2B5EF4-FFF2-40B4-BE49-F238E27FC236}">
                  <a16:creationId xmlns:a16="http://schemas.microsoft.com/office/drawing/2014/main" id="{878AF99F-07B0-66CA-3C4D-8C2A36C70D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32" y="1187"/>
              <a:ext cx="340" cy="340"/>
            </a:xfrm>
            <a:custGeom>
              <a:avLst/>
              <a:gdLst>
                <a:gd name="T0" fmla="*/ 256 w 512"/>
                <a:gd name="T1" fmla="*/ 21 h 512"/>
                <a:gd name="T2" fmla="*/ 490 w 512"/>
                <a:gd name="T3" fmla="*/ 256 h 512"/>
                <a:gd name="T4" fmla="*/ 256 w 512"/>
                <a:gd name="T5" fmla="*/ 490 h 512"/>
                <a:gd name="T6" fmla="*/ 21 w 512"/>
                <a:gd name="T7" fmla="*/ 256 h 512"/>
                <a:gd name="T8" fmla="*/ 256 w 512"/>
                <a:gd name="T9" fmla="*/ 21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1"/>
                  </a:moveTo>
                  <a:cubicBezTo>
                    <a:pt x="385" y="21"/>
                    <a:pt x="490" y="126"/>
                    <a:pt x="490" y="256"/>
                  </a:cubicBezTo>
                  <a:cubicBezTo>
                    <a:pt x="490" y="385"/>
                    <a:pt x="385" y="490"/>
                    <a:pt x="256" y="490"/>
                  </a:cubicBezTo>
                  <a:cubicBezTo>
                    <a:pt x="126" y="490"/>
                    <a:pt x="21" y="385"/>
                    <a:pt x="21" y="256"/>
                  </a:cubicBezTo>
                  <a:cubicBezTo>
                    <a:pt x="21" y="126"/>
                    <a:pt x="126" y="21"/>
                    <a:pt x="256" y="21"/>
                  </a:cubicBezTo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</a:path>
              </a:pathLst>
            </a:custGeom>
            <a:grpFill/>
            <a:ln>
              <a:solidFill>
                <a:srgbClr val="E97132"/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32" name="Freeform 139">
              <a:extLst>
                <a:ext uri="{FF2B5EF4-FFF2-40B4-BE49-F238E27FC236}">
                  <a16:creationId xmlns:a16="http://schemas.microsoft.com/office/drawing/2014/main" id="{D2054B3F-1823-0B42-8C82-3A103AA58B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17" y="1251"/>
              <a:ext cx="163" cy="212"/>
            </a:xfrm>
            <a:custGeom>
              <a:avLst/>
              <a:gdLst>
                <a:gd name="T0" fmla="*/ 234 w 245"/>
                <a:gd name="T1" fmla="*/ 10 h 320"/>
                <a:gd name="T2" fmla="*/ 192 w 245"/>
                <a:gd name="T3" fmla="*/ 10 h 320"/>
                <a:gd name="T4" fmla="*/ 181 w 245"/>
                <a:gd name="T5" fmla="*/ 21 h 320"/>
                <a:gd name="T6" fmla="*/ 181 w 245"/>
                <a:gd name="T7" fmla="*/ 32 h 320"/>
                <a:gd name="T8" fmla="*/ 149 w 245"/>
                <a:gd name="T9" fmla="*/ 32 h 320"/>
                <a:gd name="T10" fmla="*/ 149 w 245"/>
                <a:gd name="T11" fmla="*/ 10 h 320"/>
                <a:gd name="T12" fmla="*/ 138 w 245"/>
                <a:gd name="T13" fmla="*/ 0 h 320"/>
                <a:gd name="T14" fmla="*/ 96 w 245"/>
                <a:gd name="T15" fmla="*/ 0 h 320"/>
                <a:gd name="T16" fmla="*/ 85 w 245"/>
                <a:gd name="T17" fmla="*/ 10 h 320"/>
                <a:gd name="T18" fmla="*/ 85 w 245"/>
                <a:gd name="T19" fmla="*/ 32 h 320"/>
                <a:gd name="T20" fmla="*/ 64 w 245"/>
                <a:gd name="T21" fmla="*/ 32 h 320"/>
                <a:gd name="T22" fmla="*/ 53 w 245"/>
                <a:gd name="T23" fmla="*/ 42 h 320"/>
                <a:gd name="T24" fmla="*/ 49 w 245"/>
                <a:gd name="T25" fmla="*/ 53 h 320"/>
                <a:gd name="T26" fmla="*/ 10 w 245"/>
                <a:gd name="T27" fmla="*/ 64 h 320"/>
                <a:gd name="T28" fmla="*/ 3 w 245"/>
                <a:gd name="T29" fmla="*/ 67 h 320"/>
                <a:gd name="T30" fmla="*/ 0 w 245"/>
                <a:gd name="T31" fmla="*/ 74 h 320"/>
                <a:gd name="T32" fmla="*/ 0 w 245"/>
                <a:gd name="T33" fmla="*/ 106 h 320"/>
                <a:gd name="T34" fmla="*/ 10 w 245"/>
                <a:gd name="T35" fmla="*/ 117 h 320"/>
                <a:gd name="T36" fmla="*/ 85 w 245"/>
                <a:gd name="T37" fmla="*/ 117 h 320"/>
                <a:gd name="T38" fmla="*/ 85 w 245"/>
                <a:gd name="T39" fmla="*/ 309 h 320"/>
                <a:gd name="T40" fmla="*/ 96 w 245"/>
                <a:gd name="T41" fmla="*/ 320 h 320"/>
                <a:gd name="T42" fmla="*/ 138 w 245"/>
                <a:gd name="T43" fmla="*/ 320 h 320"/>
                <a:gd name="T44" fmla="*/ 149 w 245"/>
                <a:gd name="T45" fmla="*/ 309 h 320"/>
                <a:gd name="T46" fmla="*/ 149 w 245"/>
                <a:gd name="T47" fmla="*/ 117 h 320"/>
                <a:gd name="T48" fmla="*/ 181 w 245"/>
                <a:gd name="T49" fmla="*/ 117 h 320"/>
                <a:gd name="T50" fmla="*/ 181 w 245"/>
                <a:gd name="T51" fmla="*/ 128 h 320"/>
                <a:gd name="T52" fmla="*/ 192 w 245"/>
                <a:gd name="T53" fmla="*/ 138 h 320"/>
                <a:gd name="T54" fmla="*/ 234 w 245"/>
                <a:gd name="T55" fmla="*/ 138 h 320"/>
                <a:gd name="T56" fmla="*/ 245 w 245"/>
                <a:gd name="T57" fmla="*/ 128 h 320"/>
                <a:gd name="T58" fmla="*/ 245 w 245"/>
                <a:gd name="T59" fmla="*/ 21 h 320"/>
                <a:gd name="T60" fmla="*/ 234 w 245"/>
                <a:gd name="T61" fmla="*/ 10 h 320"/>
                <a:gd name="T62" fmla="*/ 106 w 245"/>
                <a:gd name="T63" fmla="*/ 21 h 320"/>
                <a:gd name="T64" fmla="*/ 128 w 245"/>
                <a:gd name="T65" fmla="*/ 21 h 320"/>
                <a:gd name="T66" fmla="*/ 128 w 245"/>
                <a:gd name="T67" fmla="*/ 32 h 320"/>
                <a:gd name="T68" fmla="*/ 106 w 245"/>
                <a:gd name="T69" fmla="*/ 32 h 320"/>
                <a:gd name="T70" fmla="*/ 106 w 245"/>
                <a:gd name="T71" fmla="*/ 21 h 320"/>
                <a:gd name="T72" fmla="*/ 128 w 245"/>
                <a:gd name="T73" fmla="*/ 298 h 320"/>
                <a:gd name="T74" fmla="*/ 106 w 245"/>
                <a:gd name="T75" fmla="*/ 298 h 320"/>
                <a:gd name="T76" fmla="*/ 106 w 245"/>
                <a:gd name="T77" fmla="*/ 117 h 320"/>
                <a:gd name="T78" fmla="*/ 128 w 245"/>
                <a:gd name="T79" fmla="*/ 117 h 320"/>
                <a:gd name="T80" fmla="*/ 128 w 245"/>
                <a:gd name="T81" fmla="*/ 298 h 320"/>
                <a:gd name="T82" fmla="*/ 170 w 245"/>
                <a:gd name="T83" fmla="*/ 96 h 320"/>
                <a:gd name="T84" fmla="*/ 21 w 245"/>
                <a:gd name="T85" fmla="*/ 96 h 320"/>
                <a:gd name="T86" fmla="*/ 21 w 245"/>
                <a:gd name="T87" fmla="*/ 84 h 320"/>
                <a:gd name="T88" fmla="*/ 64 w 245"/>
                <a:gd name="T89" fmla="*/ 68 h 320"/>
                <a:gd name="T90" fmla="*/ 73 w 245"/>
                <a:gd name="T91" fmla="*/ 53 h 320"/>
                <a:gd name="T92" fmla="*/ 170 w 245"/>
                <a:gd name="T93" fmla="*/ 53 h 320"/>
                <a:gd name="T94" fmla="*/ 170 w 245"/>
                <a:gd name="T95" fmla="*/ 96 h 320"/>
                <a:gd name="T96" fmla="*/ 224 w 245"/>
                <a:gd name="T97" fmla="*/ 117 h 320"/>
                <a:gd name="T98" fmla="*/ 202 w 245"/>
                <a:gd name="T99" fmla="*/ 117 h 320"/>
                <a:gd name="T100" fmla="*/ 202 w 245"/>
                <a:gd name="T101" fmla="*/ 32 h 320"/>
                <a:gd name="T102" fmla="*/ 224 w 245"/>
                <a:gd name="T103" fmla="*/ 32 h 320"/>
                <a:gd name="T104" fmla="*/ 224 w 245"/>
                <a:gd name="T105" fmla="*/ 117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45" h="320">
                  <a:moveTo>
                    <a:pt x="234" y="10"/>
                  </a:moveTo>
                  <a:cubicBezTo>
                    <a:pt x="192" y="10"/>
                    <a:pt x="192" y="10"/>
                    <a:pt x="192" y="10"/>
                  </a:cubicBezTo>
                  <a:cubicBezTo>
                    <a:pt x="186" y="10"/>
                    <a:pt x="181" y="15"/>
                    <a:pt x="181" y="21"/>
                  </a:cubicBezTo>
                  <a:cubicBezTo>
                    <a:pt x="181" y="32"/>
                    <a:pt x="181" y="32"/>
                    <a:pt x="181" y="32"/>
                  </a:cubicBezTo>
                  <a:cubicBezTo>
                    <a:pt x="149" y="32"/>
                    <a:pt x="149" y="32"/>
                    <a:pt x="149" y="3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49" y="4"/>
                    <a:pt x="144" y="0"/>
                    <a:pt x="138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0" y="0"/>
                    <a:pt x="85" y="4"/>
                    <a:pt x="85" y="10"/>
                  </a:cubicBezTo>
                  <a:cubicBezTo>
                    <a:pt x="85" y="32"/>
                    <a:pt x="85" y="32"/>
                    <a:pt x="8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58" y="32"/>
                    <a:pt x="53" y="36"/>
                    <a:pt x="53" y="42"/>
                  </a:cubicBezTo>
                  <a:cubicBezTo>
                    <a:pt x="53" y="47"/>
                    <a:pt x="52" y="50"/>
                    <a:pt x="49" y="53"/>
                  </a:cubicBezTo>
                  <a:cubicBezTo>
                    <a:pt x="39" y="62"/>
                    <a:pt x="18" y="64"/>
                    <a:pt x="10" y="64"/>
                  </a:cubicBezTo>
                  <a:cubicBezTo>
                    <a:pt x="8" y="64"/>
                    <a:pt x="5" y="65"/>
                    <a:pt x="3" y="67"/>
                  </a:cubicBezTo>
                  <a:cubicBezTo>
                    <a:pt x="1" y="69"/>
                    <a:pt x="0" y="71"/>
                    <a:pt x="0" y="74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0" y="112"/>
                    <a:pt x="4" y="117"/>
                    <a:pt x="10" y="117"/>
                  </a:cubicBezTo>
                  <a:cubicBezTo>
                    <a:pt x="85" y="117"/>
                    <a:pt x="85" y="117"/>
                    <a:pt x="85" y="117"/>
                  </a:cubicBezTo>
                  <a:cubicBezTo>
                    <a:pt x="85" y="309"/>
                    <a:pt x="85" y="309"/>
                    <a:pt x="85" y="309"/>
                  </a:cubicBezTo>
                  <a:cubicBezTo>
                    <a:pt x="85" y="315"/>
                    <a:pt x="90" y="320"/>
                    <a:pt x="96" y="320"/>
                  </a:cubicBezTo>
                  <a:cubicBezTo>
                    <a:pt x="138" y="320"/>
                    <a:pt x="138" y="320"/>
                    <a:pt x="138" y="320"/>
                  </a:cubicBezTo>
                  <a:cubicBezTo>
                    <a:pt x="144" y="320"/>
                    <a:pt x="149" y="315"/>
                    <a:pt x="149" y="309"/>
                  </a:cubicBezTo>
                  <a:cubicBezTo>
                    <a:pt x="149" y="117"/>
                    <a:pt x="149" y="117"/>
                    <a:pt x="149" y="117"/>
                  </a:cubicBezTo>
                  <a:cubicBezTo>
                    <a:pt x="181" y="117"/>
                    <a:pt x="181" y="117"/>
                    <a:pt x="181" y="117"/>
                  </a:cubicBezTo>
                  <a:cubicBezTo>
                    <a:pt x="181" y="128"/>
                    <a:pt x="181" y="128"/>
                    <a:pt x="181" y="128"/>
                  </a:cubicBezTo>
                  <a:cubicBezTo>
                    <a:pt x="181" y="134"/>
                    <a:pt x="186" y="138"/>
                    <a:pt x="192" y="138"/>
                  </a:cubicBezTo>
                  <a:cubicBezTo>
                    <a:pt x="234" y="138"/>
                    <a:pt x="234" y="138"/>
                    <a:pt x="234" y="138"/>
                  </a:cubicBezTo>
                  <a:cubicBezTo>
                    <a:pt x="240" y="138"/>
                    <a:pt x="245" y="134"/>
                    <a:pt x="245" y="128"/>
                  </a:cubicBezTo>
                  <a:cubicBezTo>
                    <a:pt x="245" y="21"/>
                    <a:pt x="245" y="21"/>
                    <a:pt x="245" y="21"/>
                  </a:cubicBezTo>
                  <a:cubicBezTo>
                    <a:pt x="245" y="15"/>
                    <a:pt x="240" y="10"/>
                    <a:pt x="234" y="10"/>
                  </a:cubicBezTo>
                  <a:close/>
                  <a:moveTo>
                    <a:pt x="106" y="21"/>
                  </a:moveTo>
                  <a:cubicBezTo>
                    <a:pt x="128" y="21"/>
                    <a:pt x="128" y="21"/>
                    <a:pt x="128" y="21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6" y="21"/>
                  </a:lnTo>
                  <a:close/>
                  <a:moveTo>
                    <a:pt x="128" y="298"/>
                  </a:moveTo>
                  <a:cubicBezTo>
                    <a:pt x="106" y="298"/>
                    <a:pt x="106" y="298"/>
                    <a:pt x="106" y="298"/>
                  </a:cubicBezTo>
                  <a:cubicBezTo>
                    <a:pt x="106" y="117"/>
                    <a:pt x="106" y="117"/>
                    <a:pt x="106" y="117"/>
                  </a:cubicBezTo>
                  <a:cubicBezTo>
                    <a:pt x="128" y="117"/>
                    <a:pt x="128" y="117"/>
                    <a:pt x="128" y="117"/>
                  </a:cubicBezTo>
                  <a:lnTo>
                    <a:pt x="128" y="298"/>
                  </a:lnTo>
                  <a:close/>
                  <a:moveTo>
                    <a:pt x="170" y="96"/>
                  </a:moveTo>
                  <a:cubicBezTo>
                    <a:pt x="21" y="96"/>
                    <a:pt x="21" y="96"/>
                    <a:pt x="21" y="96"/>
                  </a:cubicBezTo>
                  <a:cubicBezTo>
                    <a:pt x="21" y="84"/>
                    <a:pt x="21" y="84"/>
                    <a:pt x="21" y="84"/>
                  </a:cubicBezTo>
                  <a:cubicBezTo>
                    <a:pt x="33" y="83"/>
                    <a:pt x="52" y="80"/>
                    <a:pt x="64" y="68"/>
                  </a:cubicBezTo>
                  <a:cubicBezTo>
                    <a:pt x="68" y="64"/>
                    <a:pt x="71" y="59"/>
                    <a:pt x="73" y="53"/>
                  </a:cubicBezTo>
                  <a:cubicBezTo>
                    <a:pt x="170" y="53"/>
                    <a:pt x="170" y="53"/>
                    <a:pt x="170" y="53"/>
                  </a:cubicBezTo>
                  <a:lnTo>
                    <a:pt x="170" y="96"/>
                  </a:lnTo>
                  <a:close/>
                  <a:moveTo>
                    <a:pt x="224" y="117"/>
                  </a:moveTo>
                  <a:cubicBezTo>
                    <a:pt x="202" y="117"/>
                    <a:pt x="202" y="117"/>
                    <a:pt x="202" y="117"/>
                  </a:cubicBezTo>
                  <a:cubicBezTo>
                    <a:pt x="202" y="32"/>
                    <a:pt x="202" y="32"/>
                    <a:pt x="202" y="32"/>
                  </a:cubicBezTo>
                  <a:cubicBezTo>
                    <a:pt x="224" y="32"/>
                    <a:pt x="224" y="32"/>
                    <a:pt x="224" y="32"/>
                  </a:cubicBezTo>
                  <a:lnTo>
                    <a:pt x="224" y="117"/>
                  </a:lnTo>
                  <a:close/>
                </a:path>
              </a:pathLst>
            </a:custGeom>
            <a:grpFill/>
            <a:ln>
              <a:solidFill>
                <a:srgbClr val="E97132"/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sp>
        <p:nvSpPr>
          <p:cNvPr id="34" name="Slide Number Placeholder 43">
            <a:extLst>
              <a:ext uri="{FF2B5EF4-FFF2-40B4-BE49-F238E27FC236}">
                <a16:creationId xmlns:a16="http://schemas.microsoft.com/office/drawing/2014/main" id="{1FB09E51-69F2-C8EA-A69D-797C7A2D9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2B39849-C024-4E78-B92E-190B74CFFC73}" type="slidenum">
              <a:rPr lang="en-US" sz="1000" smtClean="0"/>
              <a:t>3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8692496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>
        <p:push dir="u"/>
      </p:transition>
    </mc:Choice>
    <mc:Fallback>
      <p:transition spd="slow" advClick="0" advTm="100">
        <p:push dir="u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46947-9E5C-F7D2-535E-7A7FC0188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5D4A8-A9EE-1F1D-04DF-0D5D2171E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4437"/>
            <a:ext cx="10515600" cy="1325563"/>
          </a:xfrm>
        </p:spPr>
        <p:txBody>
          <a:bodyPr/>
          <a:lstStyle/>
          <a:p>
            <a:r>
              <a:rPr lang="en-US" dirty="0"/>
              <a:t>Bricks &amp; Stones</a:t>
            </a:r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829D404B-A586-EEA4-05D6-69E16D808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7459" y="1507808"/>
            <a:ext cx="3274977" cy="365760"/>
          </a:xfrm>
          <a:prstGeom prst="rect">
            <a:avLst/>
          </a:prstGeom>
          <a:solidFill>
            <a:schemeClr val="accent3"/>
          </a:solidFill>
          <a:ln w="12700" algn="ctr">
            <a:noFill/>
            <a:miter lim="800000"/>
            <a:headEnd/>
            <a:tailEnd/>
          </a:ln>
        </p:spPr>
        <p:txBody>
          <a:bodyPr wrap="square" lIns="88900" tIns="88900" rIns="88900" bIns="88900" anchor="ctr">
            <a:spAutoFit/>
          </a:bodyPr>
          <a:lstStyle/>
          <a:p>
            <a:pPr defTabSz="1019175"/>
            <a:r>
              <a:rPr lang="en-US" sz="1200" dirty="0">
                <a:solidFill>
                  <a:schemeClr val="bg1"/>
                </a:solidFill>
              </a:rPr>
              <a:t>Stones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63673297-992F-5B16-70C6-2279F95E8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507808"/>
            <a:ext cx="3274977" cy="365760"/>
          </a:xfrm>
          <a:prstGeom prst="rect">
            <a:avLst/>
          </a:prstGeom>
          <a:solidFill>
            <a:schemeClr val="accent3"/>
          </a:solidFill>
          <a:ln w="12700" algn="ctr">
            <a:noFill/>
            <a:miter lim="800000"/>
            <a:headEnd/>
            <a:tailEnd/>
          </a:ln>
        </p:spPr>
        <p:txBody>
          <a:bodyPr wrap="square" lIns="88900" tIns="88900" rIns="88900" bIns="88900" anchor="ctr">
            <a:spAutoFit/>
          </a:bodyPr>
          <a:lstStyle/>
          <a:p>
            <a:pPr defTabSz="1019175"/>
            <a:r>
              <a:rPr lang="en-US" sz="1200" dirty="0">
                <a:solidFill>
                  <a:schemeClr val="bg1"/>
                </a:solidFill>
              </a:rPr>
              <a:t>Bricks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1BA570A0-C835-7C31-D09C-E963F8D7F4FD}"/>
              </a:ext>
            </a:extLst>
          </p:cNvPr>
          <p:cNvSpPr txBox="1">
            <a:spLocks/>
          </p:cNvSpPr>
          <p:nvPr/>
        </p:nvSpPr>
        <p:spPr>
          <a:xfrm>
            <a:off x="838200" y="1923964"/>
            <a:ext cx="3274977" cy="5129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SzPct val="100000"/>
            </a:pPr>
            <a:r>
              <a:rPr lang="en-US" sz="1000" b="1" dirty="0">
                <a:solidFill>
                  <a:schemeClr val="tx1"/>
                </a:solidFill>
              </a:rPr>
              <a:t>Definition</a:t>
            </a:r>
            <a:r>
              <a:rPr lang="en-US" sz="1000" dirty="0">
                <a:solidFill>
                  <a:schemeClr val="tx1"/>
                </a:solidFill>
              </a:rPr>
              <a:t>: Small, rectangular artificial clay blocks, burnt in kilns </a:t>
            </a:r>
          </a:p>
          <a:p>
            <a:pPr lvl="1">
              <a:buSzPct val="100000"/>
            </a:pPr>
            <a:r>
              <a:rPr lang="en-US" sz="1000" b="1" dirty="0">
                <a:solidFill>
                  <a:schemeClr val="tx1"/>
                </a:solidFill>
              </a:rPr>
              <a:t>Types</a:t>
            </a:r>
            <a:r>
              <a:rPr lang="en-US" sz="1000" dirty="0">
                <a:solidFill>
                  <a:schemeClr val="tx1"/>
                </a:solidFill>
              </a:rPr>
              <a:t>: Burnt clay (1st–3rd class), fly ash, hollow, fire bricks, concrete blocks, engineered bricks 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F274DD96-FAEB-5ADD-AD2D-C8D0A887A332}"/>
              </a:ext>
            </a:extLst>
          </p:cNvPr>
          <p:cNvSpPr txBox="1">
            <a:spLocks/>
          </p:cNvSpPr>
          <p:nvPr/>
        </p:nvSpPr>
        <p:spPr>
          <a:xfrm>
            <a:off x="4557459" y="1923964"/>
            <a:ext cx="3274977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1600" lvl="1" indent="-101600">
              <a:buSzPct val="100000"/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tx1"/>
                </a:solidFill>
              </a:rPr>
              <a:t>Definition</a:t>
            </a:r>
            <a:r>
              <a:rPr lang="en-US" sz="1000" dirty="0">
                <a:solidFill>
                  <a:schemeClr val="tx1"/>
                </a:solidFill>
              </a:rPr>
              <a:t>: Natural material quarried from earth 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F356531-36B5-6E21-1F3B-E470ED5B8891}"/>
              </a:ext>
            </a:extLst>
          </p:cNvPr>
          <p:cNvGrpSpPr/>
          <p:nvPr/>
        </p:nvGrpSpPr>
        <p:grpSpPr>
          <a:xfrm>
            <a:off x="838200" y="2827361"/>
            <a:ext cx="3274977" cy="978458"/>
            <a:chOff x="838199" y="2481221"/>
            <a:chExt cx="4715145" cy="978458"/>
          </a:xfrm>
        </p:grpSpPr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E014EF0F-C09F-EFD1-1010-064736ACD2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199" y="2481221"/>
              <a:ext cx="4715145" cy="365760"/>
            </a:xfrm>
            <a:prstGeom prst="rect">
              <a:avLst/>
            </a:prstGeom>
            <a:solidFill>
              <a:schemeClr val="accent3"/>
            </a:solidFill>
            <a:ln w="1270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anchor="ctr">
              <a:spAutoFit/>
            </a:bodyPr>
            <a:lstStyle/>
            <a:p>
              <a:pPr defTabSz="1019175"/>
              <a:r>
                <a:rPr lang="en-US" sz="1200" dirty="0">
                  <a:solidFill>
                    <a:schemeClr val="bg1"/>
                  </a:solidFill>
                </a:rPr>
                <a:t>Good Brick Properties</a:t>
              </a:r>
            </a:p>
          </p:txBody>
        </p:sp>
        <p:sp>
          <p:nvSpPr>
            <p:cNvPr id="20" name="Text Placeholder 5">
              <a:extLst>
                <a:ext uri="{FF2B5EF4-FFF2-40B4-BE49-F238E27FC236}">
                  <a16:creationId xmlns:a16="http://schemas.microsoft.com/office/drawing/2014/main" id="{EBC70D82-E45E-6DDC-7E6F-491A932D0537}"/>
                </a:ext>
              </a:extLst>
            </p:cNvPr>
            <p:cNvSpPr txBox="1">
              <a:spLocks/>
            </p:cNvSpPr>
            <p:nvPr/>
          </p:nvSpPr>
          <p:spPr>
            <a:xfrm>
              <a:off x="838199" y="2895422"/>
              <a:ext cx="4715145" cy="56425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defRPr lang="en-US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4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2pPr>
              <a:lvl3pPr marL="36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3pPr>
              <a:lvl4pPr marL="54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4pPr>
              <a:lvl5pPr marL="720000" indent="-179388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GB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5pPr>
              <a:lvl6pPr marL="90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126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1">
                <a:buSzPct val="100000"/>
              </a:pPr>
              <a:r>
                <a:rPr lang="en-US" sz="1000" dirty="0">
                  <a:solidFill>
                    <a:schemeClr val="tx1"/>
                  </a:solidFill>
                </a:rPr>
                <a:t>Uniform color, shape, sharp edges </a:t>
              </a:r>
            </a:p>
            <a:p>
              <a:pPr lvl="1">
                <a:buSzPct val="100000"/>
              </a:pPr>
              <a:r>
                <a:rPr lang="en-US" sz="1000" dirty="0">
                  <a:solidFill>
                    <a:schemeClr val="tx1"/>
                  </a:solidFill>
                </a:rPr>
                <a:t>Water absorption ≤ 20% by weight </a:t>
              </a:r>
            </a:p>
            <a:p>
              <a:pPr lvl="1">
                <a:buSzPct val="100000"/>
              </a:pPr>
              <a:r>
                <a:rPr lang="en-US" sz="1000" dirty="0">
                  <a:solidFill>
                    <a:schemeClr val="tx1"/>
                  </a:solidFill>
                </a:rPr>
                <a:t>Should not break when dropped from 1 m 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F63EDF6-9712-C55D-5A31-BFA051FA07FE}"/>
              </a:ext>
            </a:extLst>
          </p:cNvPr>
          <p:cNvGrpSpPr/>
          <p:nvPr/>
        </p:nvGrpSpPr>
        <p:grpSpPr>
          <a:xfrm>
            <a:off x="838200" y="4196255"/>
            <a:ext cx="3274977" cy="980181"/>
            <a:chOff x="838199" y="4101647"/>
            <a:chExt cx="4715145" cy="98018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F9A3FEA-A19D-D636-9B8D-C6FC2E1C9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199" y="4101647"/>
              <a:ext cx="4715145" cy="365760"/>
            </a:xfrm>
            <a:prstGeom prst="rect">
              <a:avLst/>
            </a:prstGeom>
            <a:solidFill>
              <a:schemeClr val="accent3"/>
            </a:solidFill>
            <a:ln w="1270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anchor="ctr">
              <a:spAutoFit/>
            </a:bodyPr>
            <a:lstStyle/>
            <a:p>
              <a:pPr defTabSz="1019175"/>
              <a:r>
                <a:rPr lang="en-US" sz="1200" dirty="0">
                  <a:solidFill>
                    <a:schemeClr val="bg1"/>
                  </a:solidFill>
                </a:rPr>
                <a:t>Pros</a:t>
              </a:r>
            </a:p>
          </p:txBody>
        </p:sp>
        <p:sp>
          <p:nvSpPr>
            <p:cNvPr id="22" name="Text Placeholder 5">
              <a:extLst>
                <a:ext uri="{FF2B5EF4-FFF2-40B4-BE49-F238E27FC236}">
                  <a16:creationId xmlns:a16="http://schemas.microsoft.com/office/drawing/2014/main" id="{CF3F6259-3B29-7EE7-BC34-D6121E688C4F}"/>
                </a:ext>
              </a:extLst>
            </p:cNvPr>
            <p:cNvSpPr txBox="1">
              <a:spLocks/>
            </p:cNvSpPr>
            <p:nvPr/>
          </p:nvSpPr>
          <p:spPr>
            <a:xfrm>
              <a:off x="838199" y="4517571"/>
              <a:ext cx="4715145" cy="56425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defRPr lang="en-US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4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2pPr>
              <a:lvl3pPr marL="36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3pPr>
              <a:lvl4pPr marL="54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4pPr>
              <a:lvl5pPr marL="720000" indent="-179388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GB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5pPr>
              <a:lvl6pPr marL="90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126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01600" lvl="1" indent="-101600">
                <a:buSzPct val="100000"/>
                <a:buFont typeface="Arial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Durable, cheap, easily available </a:t>
              </a:r>
            </a:p>
            <a:p>
              <a:pPr marL="101600" lvl="1" indent="-101600">
                <a:buSzPct val="100000"/>
                <a:buFont typeface="Arial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Good compressive strength (3.5–10 N/mm²) </a:t>
              </a:r>
            </a:p>
            <a:p>
              <a:pPr marL="101600" lvl="1" indent="-101600">
                <a:buSzPct val="100000"/>
                <a:buFont typeface="Arial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Fire resistant, good sound insulation 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8D6AB92-11C8-1C6F-FB4A-39160D3032F8}"/>
              </a:ext>
            </a:extLst>
          </p:cNvPr>
          <p:cNvGrpSpPr/>
          <p:nvPr/>
        </p:nvGrpSpPr>
        <p:grpSpPr>
          <a:xfrm>
            <a:off x="4557459" y="3752217"/>
            <a:ext cx="3274977" cy="774997"/>
            <a:chOff x="6192999" y="3692410"/>
            <a:chExt cx="4715145" cy="774997"/>
          </a:xfrm>
        </p:grpSpPr>
        <p:sp>
          <p:nvSpPr>
            <p:cNvPr id="11" name="Rectangle 4">
              <a:extLst>
                <a:ext uri="{FF2B5EF4-FFF2-40B4-BE49-F238E27FC236}">
                  <a16:creationId xmlns:a16="http://schemas.microsoft.com/office/drawing/2014/main" id="{9F71FCF8-975D-2B58-CDCF-32B33E7A5B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2999" y="3692410"/>
              <a:ext cx="4715145" cy="365760"/>
            </a:xfrm>
            <a:prstGeom prst="rect">
              <a:avLst/>
            </a:prstGeom>
            <a:solidFill>
              <a:schemeClr val="accent3"/>
            </a:solidFill>
            <a:ln w="1270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anchor="ctr">
              <a:spAutoFit/>
            </a:bodyPr>
            <a:lstStyle/>
            <a:p>
              <a:pPr defTabSz="1019175"/>
              <a:r>
                <a:rPr lang="en-US" sz="1200" dirty="0">
                  <a:solidFill>
                    <a:schemeClr val="bg1"/>
                  </a:solidFill>
                </a:rPr>
                <a:t>Good Stone Properties</a:t>
              </a:r>
            </a:p>
          </p:txBody>
        </p:sp>
        <p:sp>
          <p:nvSpPr>
            <p:cNvPr id="23" name="Text Placeholder 5">
              <a:extLst>
                <a:ext uri="{FF2B5EF4-FFF2-40B4-BE49-F238E27FC236}">
                  <a16:creationId xmlns:a16="http://schemas.microsoft.com/office/drawing/2014/main" id="{DF2606AE-C59B-CE65-7E35-EDA0CCF836D5}"/>
                </a:ext>
              </a:extLst>
            </p:cNvPr>
            <p:cNvSpPr txBox="1">
              <a:spLocks/>
            </p:cNvSpPr>
            <p:nvPr/>
          </p:nvSpPr>
          <p:spPr>
            <a:xfrm>
              <a:off x="6192999" y="4108334"/>
              <a:ext cx="4715145" cy="359073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defRPr lang="en-US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4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2pPr>
              <a:lvl3pPr marL="36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3pPr>
              <a:lvl4pPr marL="54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4pPr>
              <a:lvl5pPr marL="720000" indent="-179388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GB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5pPr>
              <a:lvl6pPr marL="90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126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01600" lvl="1" indent="-101600">
                <a:buSzPct val="100000"/>
                <a:buFont typeface="Arial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High crushing strength (&gt; 1000 kg/cm²) </a:t>
              </a:r>
            </a:p>
            <a:p>
              <a:pPr marL="101600" lvl="1" indent="-101600">
                <a:buSzPct val="100000"/>
                <a:buFont typeface="Arial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Durable, non-porous, weather-resistant 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5E08D0A-68DD-F21A-7C15-614BA6C0A4D3}"/>
              </a:ext>
            </a:extLst>
          </p:cNvPr>
          <p:cNvGrpSpPr/>
          <p:nvPr/>
        </p:nvGrpSpPr>
        <p:grpSpPr>
          <a:xfrm>
            <a:off x="838200" y="5566872"/>
            <a:ext cx="3274977" cy="776720"/>
            <a:chOff x="838199" y="5224163"/>
            <a:chExt cx="4715145" cy="776720"/>
          </a:xfrm>
        </p:grpSpPr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F44052CD-3CFE-10FF-7D74-C4958D2635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199" y="5224163"/>
              <a:ext cx="4715145" cy="365760"/>
            </a:xfrm>
            <a:prstGeom prst="rect">
              <a:avLst/>
            </a:prstGeom>
            <a:solidFill>
              <a:schemeClr val="accent3"/>
            </a:solidFill>
            <a:ln w="1270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anchor="ctr">
              <a:spAutoFit/>
            </a:bodyPr>
            <a:lstStyle/>
            <a:p>
              <a:pPr defTabSz="1019175"/>
              <a:r>
                <a:rPr lang="en-US" sz="1200" dirty="0">
                  <a:solidFill>
                    <a:schemeClr val="bg1"/>
                  </a:solidFill>
                </a:rPr>
                <a:t>Cons</a:t>
              </a:r>
            </a:p>
          </p:txBody>
        </p:sp>
        <p:sp>
          <p:nvSpPr>
            <p:cNvPr id="24" name="Text Placeholder 5">
              <a:extLst>
                <a:ext uri="{FF2B5EF4-FFF2-40B4-BE49-F238E27FC236}">
                  <a16:creationId xmlns:a16="http://schemas.microsoft.com/office/drawing/2014/main" id="{2E95846E-0258-1AD3-AA24-88F9717EA28F}"/>
                </a:ext>
              </a:extLst>
            </p:cNvPr>
            <p:cNvSpPr txBox="1">
              <a:spLocks/>
            </p:cNvSpPr>
            <p:nvPr/>
          </p:nvSpPr>
          <p:spPr>
            <a:xfrm>
              <a:off x="838199" y="5641810"/>
              <a:ext cx="4715145" cy="359073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defRPr lang="en-US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4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2pPr>
              <a:lvl3pPr marL="36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3pPr>
              <a:lvl4pPr marL="54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4pPr>
              <a:lvl5pPr marL="720000" indent="-179388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GB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5pPr>
              <a:lvl6pPr marL="90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126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01600" lvl="1" indent="-101600">
                <a:buSzPct val="100000"/>
                <a:buFont typeface="Arial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Absorbs water → dampness </a:t>
              </a:r>
            </a:p>
            <a:p>
              <a:pPr marL="101600" lvl="1" indent="-101600">
                <a:buSzPct val="100000"/>
                <a:buFont typeface="Arial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Brittle in tension, needs mortar 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7B703B0-92A9-8817-9E26-302B992AD729}"/>
              </a:ext>
            </a:extLst>
          </p:cNvPr>
          <p:cNvGrpSpPr/>
          <p:nvPr/>
        </p:nvGrpSpPr>
        <p:grpSpPr>
          <a:xfrm>
            <a:off x="4557459" y="4669983"/>
            <a:ext cx="3274977" cy="776720"/>
            <a:chOff x="6192999" y="4573472"/>
            <a:chExt cx="4715145" cy="776720"/>
          </a:xfrm>
        </p:grpSpPr>
        <p:sp>
          <p:nvSpPr>
            <p:cNvPr id="12" name="Rectangle 4">
              <a:extLst>
                <a:ext uri="{FF2B5EF4-FFF2-40B4-BE49-F238E27FC236}">
                  <a16:creationId xmlns:a16="http://schemas.microsoft.com/office/drawing/2014/main" id="{2B9F52B9-771F-68F4-24A9-41EB4E18C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2999" y="4573472"/>
              <a:ext cx="4715145" cy="365760"/>
            </a:xfrm>
            <a:prstGeom prst="rect">
              <a:avLst/>
            </a:prstGeom>
            <a:solidFill>
              <a:schemeClr val="accent3"/>
            </a:solidFill>
            <a:ln w="1270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anchor="ctr">
              <a:spAutoFit/>
            </a:bodyPr>
            <a:lstStyle/>
            <a:p>
              <a:pPr defTabSz="1019175"/>
              <a:r>
                <a:rPr lang="en-US" sz="1200" dirty="0">
                  <a:solidFill>
                    <a:schemeClr val="bg1"/>
                  </a:solidFill>
                </a:rPr>
                <a:t>Pros</a:t>
              </a:r>
            </a:p>
          </p:txBody>
        </p:sp>
        <p:sp>
          <p:nvSpPr>
            <p:cNvPr id="25" name="Text Placeholder 5">
              <a:extLst>
                <a:ext uri="{FF2B5EF4-FFF2-40B4-BE49-F238E27FC236}">
                  <a16:creationId xmlns:a16="http://schemas.microsoft.com/office/drawing/2014/main" id="{DB08CCB5-8E91-B4B2-4BCF-AB28B0908E3D}"/>
                </a:ext>
              </a:extLst>
            </p:cNvPr>
            <p:cNvSpPr txBox="1">
              <a:spLocks/>
            </p:cNvSpPr>
            <p:nvPr/>
          </p:nvSpPr>
          <p:spPr>
            <a:xfrm>
              <a:off x="6192999" y="4991119"/>
              <a:ext cx="4715145" cy="359073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defRPr lang="en-US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4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2pPr>
              <a:lvl3pPr marL="36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3pPr>
              <a:lvl4pPr marL="54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4pPr>
              <a:lvl5pPr marL="720000" indent="-179388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GB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5pPr>
              <a:lvl6pPr marL="90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126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01600" lvl="1" indent="-101600">
                <a:buSzPct val="100000"/>
                <a:buFont typeface="Arial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Very durable, strong, fireproof </a:t>
              </a:r>
            </a:p>
            <a:p>
              <a:pPr marL="101600" lvl="1" indent="-101600">
                <a:buSzPct val="100000"/>
                <a:buFont typeface="Arial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Polished surfaces are visually rich 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4257953-5D18-6A1D-F257-7102483A1A65}"/>
              </a:ext>
            </a:extLst>
          </p:cNvPr>
          <p:cNvGrpSpPr/>
          <p:nvPr/>
        </p:nvGrpSpPr>
        <p:grpSpPr>
          <a:xfrm>
            <a:off x="4557459" y="2220621"/>
            <a:ext cx="3274977" cy="1388827"/>
            <a:chOff x="6192999" y="2212456"/>
            <a:chExt cx="4715145" cy="1388827"/>
          </a:xfrm>
        </p:grpSpPr>
        <p:sp>
          <p:nvSpPr>
            <p:cNvPr id="16" name="Rectangle 4">
              <a:extLst>
                <a:ext uri="{FF2B5EF4-FFF2-40B4-BE49-F238E27FC236}">
                  <a16:creationId xmlns:a16="http://schemas.microsoft.com/office/drawing/2014/main" id="{68DD4F89-BCC9-37C8-D9BF-A56C08A8DA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2999" y="2212456"/>
              <a:ext cx="4715145" cy="365760"/>
            </a:xfrm>
            <a:prstGeom prst="rect">
              <a:avLst/>
            </a:prstGeom>
            <a:solidFill>
              <a:schemeClr val="accent3"/>
            </a:solidFill>
            <a:ln w="1270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anchor="ctr">
              <a:spAutoFit/>
            </a:bodyPr>
            <a:lstStyle/>
            <a:p>
              <a:pPr defTabSz="1019175"/>
              <a:r>
                <a:rPr lang="en-US" sz="1200" dirty="0">
                  <a:solidFill>
                    <a:schemeClr val="bg1"/>
                  </a:solidFill>
                </a:rPr>
                <a:t>Common Stones</a:t>
              </a:r>
            </a:p>
          </p:txBody>
        </p:sp>
        <p:sp>
          <p:nvSpPr>
            <p:cNvPr id="26" name="Text Placeholder 5">
              <a:extLst>
                <a:ext uri="{FF2B5EF4-FFF2-40B4-BE49-F238E27FC236}">
                  <a16:creationId xmlns:a16="http://schemas.microsoft.com/office/drawing/2014/main" id="{2386641F-7565-E288-5EC3-050E69C89F3D}"/>
                </a:ext>
              </a:extLst>
            </p:cNvPr>
            <p:cNvSpPr txBox="1">
              <a:spLocks/>
            </p:cNvSpPr>
            <p:nvPr/>
          </p:nvSpPr>
          <p:spPr>
            <a:xfrm>
              <a:off x="6192999" y="2626657"/>
              <a:ext cx="4715145" cy="974626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defRPr lang="en-US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4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2pPr>
              <a:lvl3pPr marL="36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3pPr>
              <a:lvl4pPr marL="54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4pPr>
              <a:lvl5pPr marL="720000" indent="-179388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GB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5pPr>
              <a:lvl6pPr marL="90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126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01600" lvl="1" indent="-101600">
                <a:buSzPct val="100000"/>
                <a:buFont typeface="Arial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Granite – hard, polished; floors, kitchen tops </a:t>
              </a:r>
            </a:p>
            <a:p>
              <a:pPr marL="101600" lvl="1" indent="-101600">
                <a:buSzPct val="100000"/>
                <a:buFont typeface="Arial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Marble – smooth, decorative; floors, interiors, sculptures </a:t>
              </a:r>
            </a:p>
            <a:p>
              <a:pPr marL="101600" lvl="1" indent="-101600">
                <a:buSzPct val="100000"/>
                <a:buFont typeface="Arial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Sandstone – porous; cladding, walls </a:t>
              </a:r>
            </a:p>
            <a:p>
              <a:pPr marL="101600" lvl="1" indent="-101600">
                <a:buSzPct val="100000"/>
                <a:buFont typeface="Arial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Slate – roofing, flooring, tiles </a:t>
              </a:r>
            </a:p>
            <a:p>
              <a:pPr marL="101600" lvl="1" indent="-101600">
                <a:buSzPct val="100000"/>
                <a:buFont typeface="Arial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Laterite – walls (region-specific) 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AB1031A-1D05-7FC8-5F80-14466DA73C41}"/>
              </a:ext>
            </a:extLst>
          </p:cNvPr>
          <p:cNvGrpSpPr/>
          <p:nvPr/>
        </p:nvGrpSpPr>
        <p:grpSpPr>
          <a:xfrm>
            <a:off x="4557459" y="5589472"/>
            <a:ext cx="3274977" cy="776720"/>
            <a:chOff x="6192999" y="5450927"/>
            <a:chExt cx="4715145" cy="776720"/>
          </a:xfrm>
        </p:grpSpPr>
        <p:sp>
          <p:nvSpPr>
            <p:cNvPr id="34" name="Rectangle 4">
              <a:extLst>
                <a:ext uri="{FF2B5EF4-FFF2-40B4-BE49-F238E27FC236}">
                  <a16:creationId xmlns:a16="http://schemas.microsoft.com/office/drawing/2014/main" id="{45BAF965-5D83-E621-36D9-19F12418B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2999" y="5450927"/>
              <a:ext cx="4715145" cy="365760"/>
            </a:xfrm>
            <a:prstGeom prst="rect">
              <a:avLst/>
            </a:prstGeom>
            <a:solidFill>
              <a:schemeClr val="accent3"/>
            </a:solidFill>
            <a:ln w="1270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anchor="ctr">
              <a:spAutoFit/>
            </a:bodyPr>
            <a:lstStyle/>
            <a:p>
              <a:pPr defTabSz="1019175"/>
              <a:r>
                <a:rPr lang="en-US" sz="1200" dirty="0">
                  <a:solidFill>
                    <a:schemeClr val="bg1"/>
                  </a:solidFill>
                </a:rPr>
                <a:t>Cons</a:t>
              </a:r>
            </a:p>
          </p:txBody>
        </p:sp>
        <p:sp>
          <p:nvSpPr>
            <p:cNvPr id="35" name="Text Placeholder 5">
              <a:extLst>
                <a:ext uri="{FF2B5EF4-FFF2-40B4-BE49-F238E27FC236}">
                  <a16:creationId xmlns:a16="http://schemas.microsoft.com/office/drawing/2014/main" id="{864CE591-2078-38A4-EC50-BFDDDA5ED547}"/>
                </a:ext>
              </a:extLst>
            </p:cNvPr>
            <p:cNvSpPr txBox="1">
              <a:spLocks/>
            </p:cNvSpPr>
            <p:nvPr/>
          </p:nvSpPr>
          <p:spPr>
            <a:xfrm>
              <a:off x="6192999" y="5868574"/>
              <a:ext cx="4715145" cy="359073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defRPr lang="en-US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4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2pPr>
              <a:lvl3pPr marL="36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3pPr>
              <a:lvl4pPr marL="54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4pPr>
              <a:lvl5pPr marL="720000" indent="-179388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GB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5pPr>
              <a:lvl6pPr marL="90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126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01600" lvl="1" indent="-101600">
                <a:buSzPct val="100000"/>
                <a:buFont typeface="Arial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Heavy → costlier foundations, difficult transport </a:t>
              </a:r>
            </a:p>
            <a:p>
              <a:pPr marL="101600" lvl="1" indent="-101600">
                <a:buSzPct val="100000"/>
                <a:buFont typeface="Arial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Expensive; needs skilled cutting/polishing </a:t>
              </a:r>
            </a:p>
          </p:txBody>
        </p:sp>
      </p:grpSp>
      <p:sp>
        <p:nvSpPr>
          <p:cNvPr id="44" name="Slide Number Placeholder 43">
            <a:extLst>
              <a:ext uri="{FF2B5EF4-FFF2-40B4-BE49-F238E27FC236}">
                <a16:creationId xmlns:a16="http://schemas.microsoft.com/office/drawing/2014/main" id="{C48E7418-0295-1F39-07D0-DC464E9D4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2B39849-C024-4E78-B92E-190B74CFFC73}" type="slidenum">
              <a:rPr lang="en-US" sz="1000" smtClean="0"/>
              <a:t>4</a:t>
            </a:fld>
            <a:endParaRPr lang="en-US" sz="1000" dirty="0"/>
          </a:p>
        </p:txBody>
      </p:sp>
      <p:pic>
        <p:nvPicPr>
          <p:cNvPr id="52" name="Picture 51" descr="A group of bricks with text&#10;&#10;AI-generated content may be incorrect.">
            <a:extLst>
              <a:ext uri="{FF2B5EF4-FFF2-40B4-BE49-F238E27FC236}">
                <a16:creationId xmlns:a16="http://schemas.microsoft.com/office/drawing/2014/main" id="{8828E418-EE9E-08A3-B610-CD4DF0FCBFE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38" t="46747" r="6158" b="19492"/>
          <a:stretch>
            <a:fillRect/>
          </a:stretch>
        </p:blipFill>
        <p:spPr>
          <a:xfrm>
            <a:off x="8040859" y="1211352"/>
            <a:ext cx="4059151" cy="1281520"/>
          </a:xfrm>
          <a:prstGeom prst="rect">
            <a:avLst/>
          </a:prstGeom>
        </p:spPr>
      </p:pic>
      <p:sp>
        <p:nvSpPr>
          <p:cNvPr id="55" name="Oval 54">
            <a:extLst>
              <a:ext uri="{FF2B5EF4-FFF2-40B4-BE49-F238E27FC236}">
                <a16:creationId xmlns:a16="http://schemas.microsoft.com/office/drawing/2014/main" id="{6209E6AC-871B-365E-C212-E92D6DB0B227}"/>
              </a:ext>
            </a:extLst>
          </p:cNvPr>
          <p:cNvSpPr/>
          <p:nvPr/>
        </p:nvSpPr>
        <p:spPr>
          <a:xfrm>
            <a:off x="7952624" y="2621415"/>
            <a:ext cx="1524000" cy="1334093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9E8F57BE-5B8D-C20F-B010-49CF12E303D4}"/>
              </a:ext>
            </a:extLst>
          </p:cNvPr>
          <p:cNvSpPr/>
          <p:nvPr/>
        </p:nvSpPr>
        <p:spPr>
          <a:xfrm>
            <a:off x="9177597" y="3981898"/>
            <a:ext cx="1524000" cy="1334093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77329A45-CA86-55D2-6871-E2F119EFE963}"/>
              </a:ext>
            </a:extLst>
          </p:cNvPr>
          <p:cNvSpPr/>
          <p:nvPr/>
        </p:nvSpPr>
        <p:spPr>
          <a:xfrm>
            <a:off x="7991879" y="5186811"/>
            <a:ext cx="1524000" cy="1334093"/>
          </a:xfrm>
          <a:prstGeom prst="ellipse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E0B4EC5-1D04-A66C-DC66-807BC87E6585}"/>
              </a:ext>
            </a:extLst>
          </p:cNvPr>
          <p:cNvSpPr/>
          <p:nvPr/>
        </p:nvSpPr>
        <p:spPr>
          <a:xfrm>
            <a:off x="10402570" y="2664614"/>
            <a:ext cx="1524000" cy="1334093"/>
          </a:xfrm>
          <a:prstGeom prst="ellipse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AD18FE4F-480B-2225-E0FD-1E40B197C592}"/>
              </a:ext>
            </a:extLst>
          </p:cNvPr>
          <p:cNvSpPr/>
          <p:nvPr/>
        </p:nvSpPr>
        <p:spPr>
          <a:xfrm>
            <a:off x="10624127" y="4953539"/>
            <a:ext cx="1524000" cy="1334093"/>
          </a:xfrm>
          <a:prstGeom prst="ellipse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" name="Picture 60" descr="A group of bricks with text&#10;&#10;AI-generated content may be incorrect.">
            <a:extLst>
              <a:ext uri="{FF2B5EF4-FFF2-40B4-BE49-F238E27FC236}">
                <a16:creationId xmlns:a16="http://schemas.microsoft.com/office/drawing/2014/main" id="{54BC099A-664C-6592-7125-C8931C06C2E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38" t="8587" r="6158" b="56491"/>
          <a:stretch>
            <a:fillRect/>
          </a:stretch>
        </p:blipFill>
        <p:spPr>
          <a:xfrm>
            <a:off x="8040859" y="0"/>
            <a:ext cx="4059151" cy="1325564"/>
          </a:xfrm>
          <a:prstGeom prst="rect">
            <a:avLst/>
          </a:prstGeom>
        </p:spPr>
      </p:pic>
      <p:sp>
        <p:nvSpPr>
          <p:cNvPr id="62" name="Text Placeholder 5">
            <a:extLst>
              <a:ext uri="{FF2B5EF4-FFF2-40B4-BE49-F238E27FC236}">
                <a16:creationId xmlns:a16="http://schemas.microsoft.com/office/drawing/2014/main" id="{9718D708-C64F-00EE-9636-3CB961C0CFDC}"/>
              </a:ext>
            </a:extLst>
          </p:cNvPr>
          <p:cNvSpPr txBox="1">
            <a:spLocks/>
          </p:cNvSpPr>
          <p:nvPr/>
        </p:nvSpPr>
        <p:spPr>
          <a:xfrm>
            <a:off x="8423830" y="3998931"/>
            <a:ext cx="581588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buSzPct val="100000"/>
              <a:buNone/>
            </a:pPr>
            <a:r>
              <a:rPr lang="en-US" sz="1000" b="1" dirty="0">
                <a:solidFill>
                  <a:schemeClr val="tx1"/>
                </a:solidFill>
              </a:rPr>
              <a:t>Granite</a:t>
            </a:r>
          </a:p>
        </p:txBody>
      </p:sp>
      <p:sp>
        <p:nvSpPr>
          <p:cNvPr id="67" name="Text Placeholder 5">
            <a:extLst>
              <a:ext uri="{FF2B5EF4-FFF2-40B4-BE49-F238E27FC236}">
                <a16:creationId xmlns:a16="http://schemas.microsoft.com/office/drawing/2014/main" id="{BDC96EEE-8E26-E104-01CF-F9CE435028C9}"/>
              </a:ext>
            </a:extLst>
          </p:cNvPr>
          <p:cNvSpPr txBox="1">
            <a:spLocks/>
          </p:cNvSpPr>
          <p:nvPr/>
        </p:nvSpPr>
        <p:spPr>
          <a:xfrm>
            <a:off x="11023289" y="4042298"/>
            <a:ext cx="581588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buSzPct val="100000"/>
              <a:buNone/>
            </a:pPr>
            <a:r>
              <a:rPr lang="en-US" sz="1000" b="1" dirty="0">
                <a:solidFill>
                  <a:schemeClr val="tx1"/>
                </a:solidFill>
              </a:rPr>
              <a:t>Marble</a:t>
            </a:r>
          </a:p>
        </p:txBody>
      </p:sp>
      <p:sp>
        <p:nvSpPr>
          <p:cNvPr id="68" name="Text Placeholder 5">
            <a:extLst>
              <a:ext uri="{FF2B5EF4-FFF2-40B4-BE49-F238E27FC236}">
                <a16:creationId xmlns:a16="http://schemas.microsoft.com/office/drawing/2014/main" id="{6F4C3E80-EBF8-4867-B31C-72E5F5B01ED3}"/>
              </a:ext>
            </a:extLst>
          </p:cNvPr>
          <p:cNvSpPr txBox="1">
            <a:spLocks/>
          </p:cNvSpPr>
          <p:nvPr/>
        </p:nvSpPr>
        <p:spPr>
          <a:xfrm>
            <a:off x="11023289" y="6319675"/>
            <a:ext cx="753037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buSzPct val="100000"/>
              <a:buNone/>
            </a:pPr>
            <a:r>
              <a:rPr lang="en-US" sz="1000" b="1" dirty="0">
                <a:solidFill>
                  <a:schemeClr val="tx1"/>
                </a:solidFill>
              </a:rPr>
              <a:t>Sandstone</a:t>
            </a:r>
          </a:p>
        </p:txBody>
      </p:sp>
      <p:sp>
        <p:nvSpPr>
          <p:cNvPr id="69" name="Text Placeholder 5">
            <a:extLst>
              <a:ext uri="{FF2B5EF4-FFF2-40B4-BE49-F238E27FC236}">
                <a16:creationId xmlns:a16="http://schemas.microsoft.com/office/drawing/2014/main" id="{987884E4-6CA3-E852-3403-73E96764392D}"/>
              </a:ext>
            </a:extLst>
          </p:cNvPr>
          <p:cNvSpPr txBox="1">
            <a:spLocks/>
          </p:cNvSpPr>
          <p:nvPr/>
        </p:nvSpPr>
        <p:spPr>
          <a:xfrm>
            <a:off x="9563078" y="5352952"/>
            <a:ext cx="753037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buSzPct val="100000"/>
              <a:buNone/>
            </a:pPr>
            <a:r>
              <a:rPr lang="en-US" sz="1000" b="1" dirty="0">
                <a:solidFill>
                  <a:schemeClr val="tx1"/>
                </a:solidFill>
              </a:rPr>
              <a:t>Slate</a:t>
            </a:r>
          </a:p>
        </p:txBody>
      </p:sp>
      <p:sp>
        <p:nvSpPr>
          <p:cNvPr id="70" name="Text Placeholder 5">
            <a:extLst>
              <a:ext uri="{FF2B5EF4-FFF2-40B4-BE49-F238E27FC236}">
                <a16:creationId xmlns:a16="http://schemas.microsoft.com/office/drawing/2014/main" id="{46BABE0E-7C9F-1687-3FB0-EAE7BAE8D579}"/>
              </a:ext>
            </a:extLst>
          </p:cNvPr>
          <p:cNvSpPr txBox="1">
            <a:spLocks/>
          </p:cNvSpPr>
          <p:nvPr/>
        </p:nvSpPr>
        <p:spPr>
          <a:xfrm>
            <a:off x="8424560" y="6590101"/>
            <a:ext cx="753037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buSzPct val="100000"/>
              <a:buNone/>
            </a:pPr>
            <a:r>
              <a:rPr lang="en-US" sz="1000" b="1" dirty="0">
                <a:solidFill>
                  <a:schemeClr val="tx1"/>
                </a:solidFill>
              </a:rPr>
              <a:t>Laterite</a:t>
            </a:r>
          </a:p>
        </p:txBody>
      </p:sp>
    </p:spTree>
    <p:extLst>
      <p:ext uri="{BB962C8B-B14F-4D97-AF65-F5344CB8AC3E}">
        <p14:creationId xmlns:p14="http://schemas.microsoft.com/office/powerpoint/2010/main" val="2754517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>
        <p:push dir="u"/>
      </p:transition>
    </mc:Choice>
    <mc:Fallback>
      <p:transition spd="slow" advClick="0" advTm="100">
        <p:push dir="u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A2C6C-57BC-FD0B-356E-12F960973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B41F8-EFE7-350A-F79F-FA95836AA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Cement &amp; Mortar</a:t>
            </a:r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9599DB98-B06B-1B06-7881-FA6BABEAF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999" y="1507808"/>
            <a:ext cx="4715145" cy="365760"/>
          </a:xfrm>
          <a:prstGeom prst="rect">
            <a:avLst/>
          </a:prstGeom>
          <a:solidFill>
            <a:schemeClr val="accent3"/>
          </a:solidFill>
          <a:ln w="12700" algn="ctr">
            <a:noFill/>
            <a:miter lim="800000"/>
            <a:headEnd/>
            <a:tailEnd/>
          </a:ln>
        </p:spPr>
        <p:txBody>
          <a:bodyPr wrap="square" lIns="88900" tIns="88900" rIns="88900" bIns="88900" anchor="ctr">
            <a:spAutoFit/>
          </a:bodyPr>
          <a:lstStyle/>
          <a:p>
            <a:pPr defTabSz="1019175"/>
            <a:r>
              <a:rPr lang="en-US" sz="1200" dirty="0">
                <a:solidFill>
                  <a:schemeClr val="bg1"/>
                </a:solidFill>
              </a:rPr>
              <a:t>Mortar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598BDC5-5740-CB61-E7A3-1210878D5307}"/>
              </a:ext>
            </a:extLst>
          </p:cNvPr>
          <p:cNvGrpSpPr/>
          <p:nvPr/>
        </p:nvGrpSpPr>
        <p:grpSpPr>
          <a:xfrm>
            <a:off x="838199" y="1507808"/>
            <a:ext cx="4715145" cy="775229"/>
            <a:chOff x="838199" y="1507808"/>
            <a:chExt cx="4715145" cy="775229"/>
          </a:xfrm>
        </p:grpSpPr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771574A7-2212-F772-03A7-AF9B22C738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199" y="1507808"/>
              <a:ext cx="4715145" cy="365760"/>
            </a:xfrm>
            <a:prstGeom prst="rect">
              <a:avLst/>
            </a:prstGeom>
            <a:solidFill>
              <a:schemeClr val="accent3"/>
            </a:solidFill>
            <a:ln w="1270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anchor="ctr">
              <a:spAutoFit/>
            </a:bodyPr>
            <a:lstStyle/>
            <a:p>
              <a:pPr defTabSz="1019175"/>
              <a:r>
                <a:rPr lang="en-US" sz="1200" dirty="0">
                  <a:solidFill>
                    <a:schemeClr val="bg1"/>
                  </a:solidFill>
                </a:rPr>
                <a:t>Cement</a:t>
              </a:r>
            </a:p>
          </p:txBody>
        </p:sp>
        <p:sp>
          <p:nvSpPr>
            <p:cNvPr id="18" name="Text Placeholder 5">
              <a:extLst>
                <a:ext uri="{FF2B5EF4-FFF2-40B4-BE49-F238E27FC236}">
                  <a16:creationId xmlns:a16="http://schemas.microsoft.com/office/drawing/2014/main" id="{DF53DF6D-1EC7-1059-A5FF-D59C64520B45}"/>
                </a:ext>
              </a:extLst>
            </p:cNvPr>
            <p:cNvSpPr txBox="1">
              <a:spLocks/>
            </p:cNvSpPr>
            <p:nvPr/>
          </p:nvSpPr>
          <p:spPr>
            <a:xfrm>
              <a:off x="838199" y="1923964"/>
              <a:ext cx="4715145" cy="359073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defRPr lang="en-US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4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2pPr>
              <a:lvl3pPr marL="36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3pPr>
              <a:lvl4pPr marL="54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4pPr>
              <a:lvl5pPr marL="720000" indent="-179388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GB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5pPr>
              <a:lvl6pPr marL="90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126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1">
                <a:buSzPct val="100000"/>
              </a:pPr>
              <a:r>
                <a:rPr lang="en-US" sz="1000" dirty="0">
                  <a:solidFill>
                    <a:schemeClr val="tx1"/>
                  </a:solidFill>
                </a:rPr>
                <a:t>Definition: Fine binding powder (Portland cement, 1824) </a:t>
              </a:r>
            </a:p>
            <a:p>
              <a:pPr lvl="1">
                <a:buSzPct val="100000"/>
              </a:pPr>
              <a:r>
                <a:rPr lang="en-US" sz="1000" dirty="0">
                  <a:solidFill>
                    <a:schemeClr val="tx1"/>
                  </a:solidFill>
                </a:rPr>
                <a:t>Composition: Lime, silica, alumina, iron oxide, gypsum </a:t>
              </a:r>
            </a:p>
          </p:txBody>
        </p:sp>
      </p:grp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1021A925-473E-0684-CC9F-847C628CAB9A}"/>
              </a:ext>
            </a:extLst>
          </p:cNvPr>
          <p:cNvSpPr txBox="1">
            <a:spLocks/>
          </p:cNvSpPr>
          <p:nvPr/>
        </p:nvSpPr>
        <p:spPr>
          <a:xfrm>
            <a:off x="6192999" y="1923964"/>
            <a:ext cx="4715145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1600" lvl="1" indent="-101600"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Definition: Binder (cement/lime/mud) + sand + water 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C33346A-E2A4-3A72-2C1F-0D8C3BE24552}"/>
              </a:ext>
            </a:extLst>
          </p:cNvPr>
          <p:cNvGrpSpPr/>
          <p:nvPr/>
        </p:nvGrpSpPr>
        <p:grpSpPr>
          <a:xfrm>
            <a:off x="838199" y="2333201"/>
            <a:ext cx="4715145" cy="1183642"/>
            <a:chOff x="838199" y="2481221"/>
            <a:chExt cx="4715145" cy="1183642"/>
          </a:xfrm>
        </p:grpSpPr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08E37DF9-7818-B1A0-65E7-ED93050E80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199" y="2481221"/>
              <a:ext cx="4715145" cy="365760"/>
            </a:xfrm>
            <a:prstGeom prst="rect">
              <a:avLst/>
            </a:prstGeom>
            <a:solidFill>
              <a:schemeClr val="accent3"/>
            </a:solidFill>
            <a:ln w="1270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anchor="ctr">
              <a:spAutoFit/>
            </a:bodyPr>
            <a:lstStyle/>
            <a:p>
              <a:pPr defTabSz="1019175"/>
              <a:r>
                <a:rPr lang="en-US" sz="1200" dirty="0">
                  <a:solidFill>
                    <a:schemeClr val="bg1"/>
                  </a:solidFill>
                </a:rPr>
                <a:t>Types</a:t>
              </a:r>
            </a:p>
          </p:txBody>
        </p:sp>
        <p:sp>
          <p:nvSpPr>
            <p:cNvPr id="20" name="Text Placeholder 5">
              <a:extLst>
                <a:ext uri="{FF2B5EF4-FFF2-40B4-BE49-F238E27FC236}">
                  <a16:creationId xmlns:a16="http://schemas.microsoft.com/office/drawing/2014/main" id="{CDCA0E18-0F3F-FC3B-E047-BF847B7F74DA}"/>
                </a:ext>
              </a:extLst>
            </p:cNvPr>
            <p:cNvSpPr txBox="1">
              <a:spLocks/>
            </p:cNvSpPr>
            <p:nvPr/>
          </p:nvSpPr>
          <p:spPr>
            <a:xfrm>
              <a:off x="838199" y="2895422"/>
              <a:ext cx="4715145" cy="76944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defRPr lang="en-US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4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2pPr>
              <a:lvl3pPr marL="36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3pPr>
              <a:lvl4pPr marL="54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4pPr>
              <a:lvl5pPr marL="720000" indent="-179388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GB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5pPr>
              <a:lvl6pPr marL="90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126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1">
                <a:buSzPct val="100000"/>
              </a:pPr>
              <a:r>
                <a:rPr lang="en-US" sz="1000" dirty="0">
                  <a:solidFill>
                    <a:schemeClr val="tx1"/>
                  </a:solidFill>
                </a:rPr>
                <a:t>OPC – general construction </a:t>
              </a:r>
            </a:p>
            <a:p>
              <a:pPr lvl="1">
                <a:buSzPct val="100000"/>
              </a:pPr>
              <a:r>
                <a:rPr lang="en-US" sz="1000" dirty="0">
                  <a:solidFill>
                    <a:schemeClr val="tx1"/>
                  </a:solidFill>
                </a:rPr>
                <a:t>PPC – more eco-friendly, good for plaster </a:t>
              </a:r>
            </a:p>
            <a:p>
              <a:pPr lvl="1">
                <a:buSzPct val="100000"/>
              </a:pPr>
              <a:r>
                <a:rPr lang="en-US" sz="1000" dirty="0">
                  <a:solidFill>
                    <a:schemeClr val="tx1"/>
                  </a:solidFill>
                </a:rPr>
                <a:t>Rapid hardening – quick construction </a:t>
              </a:r>
            </a:p>
            <a:p>
              <a:pPr lvl="1">
                <a:buSzPct val="100000"/>
              </a:pPr>
              <a:r>
                <a:rPr lang="en-US" sz="1000" dirty="0">
                  <a:solidFill>
                    <a:schemeClr val="tx1"/>
                  </a:solidFill>
                </a:rPr>
                <a:t>White – decorative works, tiles, flooring 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56B50E0-8DE0-98EE-C2DC-23A465FD21ED}"/>
              </a:ext>
            </a:extLst>
          </p:cNvPr>
          <p:cNvGrpSpPr/>
          <p:nvPr/>
        </p:nvGrpSpPr>
        <p:grpSpPr>
          <a:xfrm>
            <a:off x="838199" y="3712981"/>
            <a:ext cx="4715145" cy="774997"/>
            <a:chOff x="838199" y="4101647"/>
            <a:chExt cx="4715145" cy="77499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5BD916C-B0D7-F051-ACF7-E709A47342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199" y="4101647"/>
              <a:ext cx="4715145" cy="365760"/>
            </a:xfrm>
            <a:prstGeom prst="rect">
              <a:avLst/>
            </a:prstGeom>
            <a:solidFill>
              <a:schemeClr val="accent3"/>
            </a:solidFill>
            <a:ln w="1270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anchor="ctr">
              <a:spAutoFit/>
            </a:bodyPr>
            <a:lstStyle/>
            <a:p>
              <a:pPr defTabSz="1019175"/>
              <a:r>
                <a:rPr lang="en-US" sz="1200" dirty="0">
                  <a:solidFill>
                    <a:schemeClr val="bg1"/>
                  </a:solidFill>
                </a:rPr>
                <a:t>Key Data</a:t>
              </a:r>
            </a:p>
          </p:txBody>
        </p:sp>
        <p:sp>
          <p:nvSpPr>
            <p:cNvPr id="22" name="Text Placeholder 5">
              <a:extLst>
                <a:ext uri="{FF2B5EF4-FFF2-40B4-BE49-F238E27FC236}">
                  <a16:creationId xmlns:a16="http://schemas.microsoft.com/office/drawing/2014/main" id="{0EDB2337-1AB7-DB11-E942-53501118CE33}"/>
                </a:ext>
              </a:extLst>
            </p:cNvPr>
            <p:cNvSpPr txBox="1">
              <a:spLocks/>
            </p:cNvSpPr>
            <p:nvPr/>
          </p:nvSpPr>
          <p:spPr>
            <a:xfrm>
              <a:off x="838199" y="4517571"/>
              <a:ext cx="4715145" cy="359073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defRPr lang="en-US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4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2pPr>
              <a:lvl3pPr marL="36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3pPr>
              <a:lvl4pPr marL="54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4pPr>
              <a:lvl5pPr marL="720000" indent="-179388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GB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5pPr>
              <a:lvl6pPr marL="90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126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01600" lvl="1" indent="-101600">
                <a:buSzPct val="100000"/>
                <a:buFont typeface="Arial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Initial setting: ~30 min </a:t>
              </a:r>
            </a:p>
            <a:p>
              <a:pPr marL="101600" lvl="1" indent="-101600">
                <a:buSzPct val="100000"/>
                <a:buFont typeface="Arial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Final setting: ~10 hours 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41AB5B1-7676-8AE0-D123-832F1A9B1805}"/>
              </a:ext>
            </a:extLst>
          </p:cNvPr>
          <p:cNvGrpSpPr/>
          <p:nvPr/>
        </p:nvGrpSpPr>
        <p:grpSpPr>
          <a:xfrm>
            <a:off x="6192999" y="3336580"/>
            <a:ext cx="4715145" cy="980181"/>
            <a:chOff x="6192999" y="3692410"/>
            <a:chExt cx="4715145" cy="980181"/>
          </a:xfrm>
        </p:grpSpPr>
        <p:sp>
          <p:nvSpPr>
            <p:cNvPr id="11" name="Rectangle 4">
              <a:extLst>
                <a:ext uri="{FF2B5EF4-FFF2-40B4-BE49-F238E27FC236}">
                  <a16:creationId xmlns:a16="http://schemas.microsoft.com/office/drawing/2014/main" id="{E90B0511-C2D2-5423-7509-2A81A606A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2999" y="3692410"/>
              <a:ext cx="4715145" cy="365760"/>
            </a:xfrm>
            <a:prstGeom prst="rect">
              <a:avLst/>
            </a:prstGeom>
            <a:solidFill>
              <a:schemeClr val="accent3"/>
            </a:solidFill>
            <a:ln w="1270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anchor="ctr">
              <a:spAutoFit/>
            </a:bodyPr>
            <a:lstStyle/>
            <a:p>
              <a:pPr defTabSz="1019175"/>
              <a:r>
                <a:rPr lang="en-US" sz="1200" dirty="0">
                  <a:solidFill>
                    <a:schemeClr val="bg1"/>
                  </a:solidFill>
                </a:rPr>
                <a:t>Pros</a:t>
              </a:r>
            </a:p>
          </p:txBody>
        </p:sp>
        <p:sp>
          <p:nvSpPr>
            <p:cNvPr id="23" name="Text Placeholder 5">
              <a:extLst>
                <a:ext uri="{FF2B5EF4-FFF2-40B4-BE49-F238E27FC236}">
                  <a16:creationId xmlns:a16="http://schemas.microsoft.com/office/drawing/2014/main" id="{7F3B5D25-795C-3782-C755-F96C0A2F971F}"/>
                </a:ext>
              </a:extLst>
            </p:cNvPr>
            <p:cNvSpPr txBox="1">
              <a:spLocks/>
            </p:cNvSpPr>
            <p:nvPr/>
          </p:nvSpPr>
          <p:spPr>
            <a:xfrm>
              <a:off x="6192999" y="4108334"/>
              <a:ext cx="4715145" cy="56425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defRPr lang="en-US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4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2pPr>
              <a:lvl3pPr marL="36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3pPr>
              <a:lvl4pPr marL="54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4pPr>
              <a:lvl5pPr marL="720000" indent="-179388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GB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5pPr>
              <a:lvl6pPr marL="90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126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01600" lvl="1" indent="-101600">
                <a:buSzPct val="100000"/>
                <a:buFont typeface="Arial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Bonds units, provides uniform bed </a:t>
              </a:r>
            </a:p>
            <a:p>
              <a:pPr marL="101600" lvl="1" indent="-101600">
                <a:buSzPct val="100000"/>
                <a:buFont typeface="Arial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Increases watertightness </a:t>
              </a:r>
            </a:p>
            <a:p>
              <a:pPr marL="101600" lvl="1" indent="-101600">
                <a:buSzPct val="100000"/>
                <a:buFont typeface="Arial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Also used for finishing (plaster, pointing) 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39C7679-04D5-B9A3-F65F-1D0325941AA9}"/>
              </a:ext>
            </a:extLst>
          </p:cNvPr>
          <p:cNvGrpSpPr/>
          <p:nvPr/>
        </p:nvGrpSpPr>
        <p:grpSpPr>
          <a:xfrm>
            <a:off x="838199" y="5566872"/>
            <a:ext cx="4715145" cy="981904"/>
            <a:chOff x="838199" y="5224163"/>
            <a:chExt cx="4715145" cy="981904"/>
          </a:xfrm>
        </p:grpSpPr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CA372B26-1DC2-7865-EED7-44F938D0B3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199" y="5224163"/>
              <a:ext cx="4715145" cy="365760"/>
            </a:xfrm>
            <a:prstGeom prst="rect">
              <a:avLst/>
            </a:prstGeom>
            <a:solidFill>
              <a:schemeClr val="accent3"/>
            </a:solidFill>
            <a:ln w="1270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anchor="ctr">
              <a:spAutoFit/>
            </a:bodyPr>
            <a:lstStyle/>
            <a:p>
              <a:pPr defTabSz="1019175"/>
              <a:r>
                <a:rPr lang="en-US" sz="1200" dirty="0">
                  <a:solidFill>
                    <a:schemeClr val="bg1"/>
                  </a:solidFill>
                </a:rPr>
                <a:t>Cons</a:t>
              </a:r>
            </a:p>
          </p:txBody>
        </p:sp>
        <p:sp>
          <p:nvSpPr>
            <p:cNvPr id="24" name="Text Placeholder 5">
              <a:extLst>
                <a:ext uri="{FF2B5EF4-FFF2-40B4-BE49-F238E27FC236}">
                  <a16:creationId xmlns:a16="http://schemas.microsoft.com/office/drawing/2014/main" id="{1A01A8E2-1F99-2759-7A47-36104FA04A46}"/>
                </a:ext>
              </a:extLst>
            </p:cNvPr>
            <p:cNvSpPr txBox="1">
              <a:spLocks/>
            </p:cNvSpPr>
            <p:nvPr/>
          </p:nvSpPr>
          <p:spPr>
            <a:xfrm>
              <a:off x="838199" y="5641810"/>
              <a:ext cx="4715145" cy="56425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defRPr lang="en-US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4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2pPr>
              <a:lvl3pPr marL="36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3pPr>
              <a:lvl4pPr marL="54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4pPr>
              <a:lvl5pPr marL="720000" indent="-179388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GB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5pPr>
              <a:lvl6pPr marL="90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126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01600" lvl="1" indent="-101600">
                <a:buSzPct val="100000"/>
                <a:buFont typeface="Arial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Costlier than lime </a:t>
              </a:r>
            </a:p>
            <a:p>
              <a:pPr marL="101600" lvl="1" indent="-101600">
                <a:buSzPct val="100000"/>
                <a:buFont typeface="Arial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Generates heat → shrinkage cracks possible </a:t>
              </a:r>
            </a:p>
            <a:p>
              <a:pPr marL="101600" lvl="1" indent="-101600">
                <a:buSzPct val="100000"/>
                <a:buFont typeface="Arial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Needs proper curing (7–14 days) 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4EB68EE-6C73-4A7B-D0D0-53F828A16645}"/>
              </a:ext>
            </a:extLst>
          </p:cNvPr>
          <p:cNvGrpSpPr/>
          <p:nvPr/>
        </p:nvGrpSpPr>
        <p:grpSpPr>
          <a:xfrm>
            <a:off x="6192999" y="4669983"/>
            <a:ext cx="4715145" cy="776720"/>
            <a:chOff x="6192999" y="4573472"/>
            <a:chExt cx="4715145" cy="776720"/>
          </a:xfrm>
        </p:grpSpPr>
        <p:sp>
          <p:nvSpPr>
            <p:cNvPr id="12" name="Rectangle 4">
              <a:extLst>
                <a:ext uri="{FF2B5EF4-FFF2-40B4-BE49-F238E27FC236}">
                  <a16:creationId xmlns:a16="http://schemas.microsoft.com/office/drawing/2014/main" id="{56AFE430-7F21-B677-1CE4-E725F0858C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2999" y="4573472"/>
              <a:ext cx="4715145" cy="365760"/>
            </a:xfrm>
            <a:prstGeom prst="rect">
              <a:avLst/>
            </a:prstGeom>
            <a:solidFill>
              <a:schemeClr val="accent3"/>
            </a:solidFill>
            <a:ln w="1270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anchor="ctr">
              <a:spAutoFit/>
            </a:bodyPr>
            <a:lstStyle/>
            <a:p>
              <a:pPr defTabSz="1019175"/>
              <a:r>
                <a:rPr lang="en-US" sz="1200" dirty="0">
                  <a:solidFill>
                    <a:schemeClr val="bg1"/>
                  </a:solidFill>
                </a:rPr>
                <a:t>Cons</a:t>
              </a:r>
            </a:p>
          </p:txBody>
        </p:sp>
        <p:sp>
          <p:nvSpPr>
            <p:cNvPr id="25" name="Text Placeholder 5">
              <a:extLst>
                <a:ext uri="{FF2B5EF4-FFF2-40B4-BE49-F238E27FC236}">
                  <a16:creationId xmlns:a16="http://schemas.microsoft.com/office/drawing/2014/main" id="{24C97F85-718E-74AD-CCE2-31454A89A13C}"/>
                </a:ext>
              </a:extLst>
            </p:cNvPr>
            <p:cNvSpPr txBox="1">
              <a:spLocks/>
            </p:cNvSpPr>
            <p:nvPr/>
          </p:nvSpPr>
          <p:spPr>
            <a:xfrm>
              <a:off x="6192999" y="4991119"/>
              <a:ext cx="4715145" cy="359073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defRPr lang="en-US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4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2pPr>
              <a:lvl3pPr marL="36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3pPr>
              <a:lvl4pPr marL="54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4pPr>
              <a:lvl5pPr marL="720000" indent="-179388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GB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5pPr>
              <a:lvl6pPr marL="90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126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01600" lvl="1" indent="-101600">
                <a:buSzPct val="100000"/>
                <a:buFont typeface="Arial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Low tensile strength </a:t>
              </a:r>
            </a:p>
            <a:p>
              <a:pPr marL="101600" lvl="1" indent="-101600">
                <a:buSzPct val="100000"/>
                <a:buFont typeface="Arial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Cracks if not cured properly 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E6C6486-ECBA-77A5-CE8A-FB1DBA6C2E50}"/>
              </a:ext>
            </a:extLst>
          </p:cNvPr>
          <p:cNvGrpSpPr/>
          <p:nvPr/>
        </p:nvGrpSpPr>
        <p:grpSpPr>
          <a:xfrm>
            <a:off x="6192999" y="2220621"/>
            <a:ext cx="4715145" cy="978458"/>
            <a:chOff x="6192999" y="2212456"/>
            <a:chExt cx="4715145" cy="978458"/>
          </a:xfrm>
        </p:grpSpPr>
        <p:sp>
          <p:nvSpPr>
            <p:cNvPr id="16" name="Rectangle 4">
              <a:extLst>
                <a:ext uri="{FF2B5EF4-FFF2-40B4-BE49-F238E27FC236}">
                  <a16:creationId xmlns:a16="http://schemas.microsoft.com/office/drawing/2014/main" id="{03D8EA47-A9BD-9C98-504B-7F40FEB363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2999" y="2212456"/>
              <a:ext cx="4715145" cy="365760"/>
            </a:xfrm>
            <a:prstGeom prst="rect">
              <a:avLst/>
            </a:prstGeom>
            <a:solidFill>
              <a:schemeClr val="accent3"/>
            </a:solidFill>
            <a:ln w="1270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anchor="ctr">
              <a:spAutoFit/>
            </a:bodyPr>
            <a:lstStyle/>
            <a:p>
              <a:pPr defTabSz="1019175"/>
              <a:r>
                <a:rPr lang="en-US" sz="1200" dirty="0">
                  <a:solidFill>
                    <a:schemeClr val="bg1"/>
                  </a:solidFill>
                </a:rPr>
                <a:t>Types</a:t>
              </a:r>
            </a:p>
          </p:txBody>
        </p:sp>
        <p:sp>
          <p:nvSpPr>
            <p:cNvPr id="26" name="Text Placeholder 5">
              <a:extLst>
                <a:ext uri="{FF2B5EF4-FFF2-40B4-BE49-F238E27FC236}">
                  <a16:creationId xmlns:a16="http://schemas.microsoft.com/office/drawing/2014/main" id="{71752BA2-1EE4-3DFC-1B08-A7071F2BD84F}"/>
                </a:ext>
              </a:extLst>
            </p:cNvPr>
            <p:cNvSpPr txBox="1">
              <a:spLocks/>
            </p:cNvSpPr>
            <p:nvPr/>
          </p:nvSpPr>
          <p:spPr>
            <a:xfrm>
              <a:off x="6192999" y="2626657"/>
              <a:ext cx="4715145" cy="56425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defRPr lang="en-US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4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2pPr>
              <a:lvl3pPr marL="36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3pPr>
              <a:lvl4pPr marL="54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4pPr>
              <a:lvl5pPr marL="720000" indent="-179388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GB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5pPr>
              <a:lvl6pPr marL="90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126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01600" lvl="1" indent="-101600">
                <a:buSzPct val="100000"/>
                <a:buFont typeface="Arial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Cement mortar – strong; brickwork, plaster </a:t>
              </a:r>
            </a:p>
            <a:p>
              <a:pPr marL="101600" lvl="1" indent="-101600">
                <a:buSzPct val="100000"/>
                <a:buFont typeface="Arial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Lime mortar – soft; heritage, restoration </a:t>
              </a:r>
            </a:p>
            <a:p>
              <a:pPr marL="101600" lvl="1" indent="-101600">
                <a:buSzPct val="100000"/>
                <a:buFont typeface="Arial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Mud mortar – eco-friendly; temporary, low-cost 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DCBA88B-249B-88F5-C018-A7D5739E6317}"/>
              </a:ext>
            </a:extLst>
          </p:cNvPr>
          <p:cNvGrpSpPr/>
          <p:nvPr/>
        </p:nvGrpSpPr>
        <p:grpSpPr>
          <a:xfrm>
            <a:off x="6192999" y="5589472"/>
            <a:ext cx="4715145" cy="776720"/>
            <a:chOff x="6192999" y="5450927"/>
            <a:chExt cx="4715145" cy="776720"/>
          </a:xfrm>
        </p:grpSpPr>
        <p:sp>
          <p:nvSpPr>
            <p:cNvPr id="34" name="Rectangle 4">
              <a:extLst>
                <a:ext uri="{FF2B5EF4-FFF2-40B4-BE49-F238E27FC236}">
                  <a16:creationId xmlns:a16="http://schemas.microsoft.com/office/drawing/2014/main" id="{1A825E54-89E7-C45C-904D-F382EEF5A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2999" y="5450927"/>
              <a:ext cx="4715145" cy="365760"/>
            </a:xfrm>
            <a:prstGeom prst="rect">
              <a:avLst/>
            </a:prstGeom>
            <a:solidFill>
              <a:schemeClr val="accent3"/>
            </a:solidFill>
            <a:ln w="1270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anchor="ctr">
              <a:spAutoFit/>
            </a:bodyPr>
            <a:lstStyle/>
            <a:p>
              <a:pPr defTabSz="1019175"/>
              <a:r>
                <a:rPr lang="en-US" sz="1200" dirty="0">
                  <a:solidFill>
                    <a:schemeClr val="bg1"/>
                  </a:solidFill>
                </a:rPr>
                <a:t>Cons</a:t>
              </a:r>
            </a:p>
          </p:txBody>
        </p:sp>
        <p:sp>
          <p:nvSpPr>
            <p:cNvPr id="35" name="Text Placeholder 5">
              <a:extLst>
                <a:ext uri="{FF2B5EF4-FFF2-40B4-BE49-F238E27FC236}">
                  <a16:creationId xmlns:a16="http://schemas.microsoft.com/office/drawing/2014/main" id="{5D7F94D6-795C-7DD7-0DE1-FB9FC4347E61}"/>
                </a:ext>
              </a:extLst>
            </p:cNvPr>
            <p:cNvSpPr txBox="1">
              <a:spLocks/>
            </p:cNvSpPr>
            <p:nvPr/>
          </p:nvSpPr>
          <p:spPr>
            <a:xfrm>
              <a:off x="6192999" y="5868574"/>
              <a:ext cx="4715145" cy="359073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defRPr lang="en-US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4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2pPr>
              <a:lvl3pPr marL="36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3pPr>
              <a:lvl4pPr marL="54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4pPr>
              <a:lvl5pPr marL="720000" indent="-179388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GB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5pPr>
              <a:lvl6pPr marL="90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126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01600" lvl="1" indent="-101600">
                <a:buSzPct val="100000"/>
                <a:buFont typeface="Arial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Heavy → costlier foundations, difficult transport </a:t>
              </a:r>
            </a:p>
            <a:p>
              <a:pPr marL="101600" lvl="1" indent="-101600">
                <a:buSzPct val="100000"/>
                <a:buFont typeface="Arial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Expensive; needs skilled cutting/polishing 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7858AAB-BA41-D910-DE2A-CF6F2E1B08F6}"/>
              </a:ext>
            </a:extLst>
          </p:cNvPr>
          <p:cNvGrpSpPr/>
          <p:nvPr/>
        </p:nvGrpSpPr>
        <p:grpSpPr>
          <a:xfrm>
            <a:off x="838199" y="4579899"/>
            <a:ext cx="4715145" cy="980181"/>
            <a:chOff x="838199" y="4101647"/>
            <a:chExt cx="4715145" cy="98018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57F21B3-B9C6-78D3-91AA-9068C4B026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199" y="4101647"/>
              <a:ext cx="4715145" cy="365760"/>
            </a:xfrm>
            <a:prstGeom prst="rect">
              <a:avLst/>
            </a:prstGeom>
            <a:solidFill>
              <a:schemeClr val="accent3"/>
            </a:solidFill>
            <a:ln w="1270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anchor="ctr">
              <a:spAutoFit/>
            </a:bodyPr>
            <a:lstStyle/>
            <a:p>
              <a:pPr defTabSz="1019175"/>
              <a:r>
                <a:rPr lang="en-US" sz="1200" dirty="0">
                  <a:solidFill>
                    <a:schemeClr val="bg1"/>
                  </a:solidFill>
                </a:rPr>
                <a:t>Pros</a:t>
              </a:r>
            </a:p>
          </p:txBody>
        </p:sp>
        <p:sp>
          <p:nvSpPr>
            <p:cNvPr id="9" name="Text Placeholder 5">
              <a:extLst>
                <a:ext uri="{FF2B5EF4-FFF2-40B4-BE49-F238E27FC236}">
                  <a16:creationId xmlns:a16="http://schemas.microsoft.com/office/drawing/2014/main" id="{710A4641-DD7E-8F03-2F80-AB5ADC03A925}"/>
                </a:ext>
              </a:extLst>
            </p:cNvPr>
            <p:cNvSpPr txBox="1">
              <a:spLocks/>
            </p:cNvSpPr>
            <p:nvPr/>
          </p:nvSpPr>
          <p:spPr>
            <a:xfrm>
              <a:off x="838199" y="4517571"/>
              <a:ext cx="4715145" cy="56425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defRPr lang="en-US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4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2pPr>
              <a:lvl3pPr marL="36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3pPr>
              <a:lvl4pPr marL="54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4pPr>
              <a:lvl5pPr marL="720000" indent="-179388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GB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5pPr>
              <a:lvl6pPr marL="90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126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01600" lvl="1" indent="-101600">
                <a:buSzPct val="100000"/>
                <a:buFont typeface="Arial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High compressive strength </a:t>
              </a:r>
            </a:p>
            <a:p>
              <a:pPr marL="101600" lvl="1" indent="-101600">
                <a:buSzPct val="100000"/>
                <a:buFont typeface="Arial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Versatile: concrete, mortar, plaster, tiles </a:t>
              </a:r>
            </a:p>
            <a:p>
              <a:pPr marL="101600" lvl="1" indent="-101600">
                <a:buSzPct val="100000"/>
                <a:buFont typeface="Arial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Factory-made, uniform quality, fire resistant </a:t>
              </a:r>
            </a:p>
          </p:txBody>
        </p:sp>
      </p:grpSp>
      <p:sp>
        <p:nvSpPr>
          <p:cNvPr id="13" name="Slide Number Placeholder 43">
            <a:extLst>
              <a:ext uri="{FF2B5EF4-FFF2-40B4-BE49-F238E27FC236}">
                <a16:creationId xmlns:a16="http://schemas.microsoft.com/office/drawing/2014/main" id="{7D29D843-EDAE-53B9-E8CF-48FD07B55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2B39849-C024-4E78-B92E-190B74CFFC73}" type="slidenum">
              <a:rPr lang="en-US" sz="1000" smtClean="0"/>
              <a:t>5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9165846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>
        <p:push dir="u"/>
      </p:transition>
    </mc:Choice>
    <mc:Fallback>
      <p:transition spd="slow" advClick="0" advTm="100">
        <p:push dir="u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4B98E-9EF2-4295-6A7F-CC7A0C7F7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BB4A7-7F9A-0772-14D6-8DB03DB18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R.C.C. (Reinforced Cement Concrete)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A07302C-D673-B393-123A-629EC3490AB1}"/>
              </a:ext>
            </a:extLst>
          </p:cNvPr>
          <p:cNvGrpSpPr/>
          <p:nvPr/>
        </p:nvGrpSpPr>
        <p:grpSpPr>
          <a:xfrm>
            <a:off x="930564" y="2675659"/>
            <a:ext cx="10134600" cy="2988815"/>
            <a:chOff x="376238" y="2241550"/>
            <a:chExt cx="8434070" cy="2988815"/>
          </a:xfrm>
        </p:grpSpPr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08AFA729-28F6-2707-2D17-3066893915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776" y="4103687"/>
              <a:ext cx="2011680" cy="17543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 defTabSz="762000">
                <a:lnSpc>
                  <a:spcPct val="95000"/>
                </a:lnSpc>
              </a:pPr>
              <a:r>
                <a:rPr lang="en-US" sz="1200" b="1" dirty="0">
                  <a:ea typeface="ＭＳ Ｐゴシック" charset="-128"/>
                </a:rPr>
                <a:t>Properties</a:t>
              </a:r>
            </a:p>
          </p:txBody>
        </p:sp>
        <p:sp>
          <p:nvSpPr>
            <p:cNvPr id="14" name="Rectangle 4">
              <a:extLst>
                <a:ext uri="{FF2B5EF4-FFF2-40B4-BE49-F238E27FC236}">
                  <a16:creationId xmlns:a16="http://schemas.microsoft.com/office/drawing/2014/main" id="{EE2AA0BB-DB9B-63BF-71A2-82A625DAC3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8420" y="3509962"/>
              <a:ext cx="2011680" cy="17543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 defTabSz="762000">
                <a:lnSpc>
                  <a:spcPct val="95000"/>
                </a:lnSpc>
              </a:pPr>
              <a:r>
                <a:rPr lang="en-US" sz="1200" b="1" dirty="0">
                  <a:ea typeface="ＭＳ Ｐゴシック" charset="-128"/>
                </a:rPr>
                <a:t>Pros</a:t>
              </a:r>
            </a:p>
          </p:txBody>
        </p:sp>
        <p:sp>
          <p:nvSpPr>
            <p:cNvPr id="15" name="Rectangle 5">
              <a:extLst>
                <a:ext uri="{FF2B5EF4-FFF2-40B4-BE49-F238E27FC236}">
                  <a16:creationId xmlns:a16="http://schemas.microsoft.com/office/drawing/2014/main" id="{C829A9AD-4B18-6E6E-4F59-7DBA365345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080" y="2919411"/>
              <a:ext cx="2011680" cy="17543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 defTabSz="762000">
                <a:lnSpc>
                  <a:spcPct val="95000"/>
                </a:lnSpc>
              </a:pPr>
              <a:r>
                <a:rPr lang="en-US" sz="1200" b="1" dirty="0">
                  <a:ea typeface="ＭＳ Ｐゴシック" charset="-128"/>
                </a:rPr>
                <a:t>Cons</a:t>
              </a:r>
            </a:p>
          </p:txBody>
        </p:sp>
        <p:sp>
          <p:nvSpPr>
            <p:cNvPr id="21" name="Rectangle 6">
              <a:extLst>
                <a:ext uri="{FF2B5EF4-FFF2-40B4-BE49-F238E27FC236}">
                  <a16:creationId xmlns:a16="http://schemas.microsoft.com/office/drawing/2014/main" id="{94D5FA3B-EBC9-F9C1-8EAD-786E5EA49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98628" y="2325687"/>
              <a:ext cx="2011680" cy="17543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 defTabSz="762000">
                <a:lnSpc>
                  <a:spcPct val="95000"/>
                </a:lnSpc>
              </a:pPr>
              <a:r>
                <a:rPr lang="en-US" sz="1200" b="1" dirty="0">
                  <a:ea typeface="ＭＳ Ｐゴシック" charset="-128"/>
                </a:rPr>
                <a:t>Uses</a:t>
              </a:r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54E70069-4228-63DE-6579-8D89F9387A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238" y="2241550"/>
              <a:ext cx="8388350" cy="2373312"/>
            </a:xfrm>
            <a:custGeom>
              <a:avLst/>
              <a:gdLst>
                <a:gd name="T0" fmla="*/ 0 w 5233"/>
                <a:gd name="T1" fmla="*/ 2147483647 h 1595"/>
                <a:gd name="T2" fmla="*/ 0 w 5233"/>
                <a:gd name="T3" fmla="*/ 2147483647 h 1595"/>
                <a:gd name="T4" fmla="*/ 2147483647 w 5233"/>
                <a:gd name="T5" fmla="*/ 2147483647 h 1595"/>
                <a:gd name="T6" fmla="*/ 2147483647 w 5233"/>
                <a:gd name="T7" fmla="*/ 2147483647 h 1595"/>
                <a:gd name="T8" fmla="*/ 2147483647 w 5233"/>
                <a:gd name="T9" fmla="*/ 2147483647 h 1595"/>
                <a:gd name="T10" fmla="*/ 2147483647 w 5233"/>
                <a:gd name="T11" fmla="*/ 2147483647 h 1595"/>
                <a:gd name="T12" fmla="*/ 2147483647 w 5233"/>
                <a:gd name="T13" fmla="*/ 2147483647 h 1595"/>
                <a:gd name="T14" fmla="*/ 2147483647 w 5233"/>
                <a:gd name="T15" fmla="*/ 0 h 1595"/>
                <a:gd name="T16" fmla="*/ 2147483647 w 5233"/>
                <a:gd name="T17" fmla="*/ 0 h 159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233"/>
                <a:gd name="T28" fmla="*/ 0 h 1595"/>
                <a:gd name="T29" fmla="*/ 5233 w 5233"/>
                <a:gd name="T30" fmla="*/ 1595 h 159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233" h="1595">
                  <a:moveTo>
                    <a:pt x="0" y="1594"/>
                  </a:moveTo>
                  <a:lnTo>
                    <a:pt x="0" y="1195"/>
                  </a:lnTo>
                  <a:lnTo>
                    <a:pt x="1308" y="1195"/>
                  </a:lnTo>
                  <a:lnTo>
                    <a:pt x="1308" y="797"/>
                  </a:lnTo>
                  <a:lnTo>
                    <a:pt x="2616" y="797"/>
                  </a:lnTo>
                  <a:lnTo>
                    <a:pt x="2616" y="398"/>
                  </a:lnTo>
                  <a:lnTo>
                    <a:pt x="3924" y="398"/>
                  </a:lnTo>
                  <a:lnTo>
                    <a:pt x="3924" y="0"/>
                  </a:lnTo>
                  <a:lnTo>
                    <a:pt x="5232" y="0"/>
                  </a:lnTo>
                </a:path>
              </a:pathLst>
            </a:custGeom>
            <a:noFill/>
            <a:ln w="9525" cap="rnd">
              <a:solidFill>
                <a:schemeClr val="accent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EDD71E2-D6C5-E4D8-0D43-B54E2C711C25}"/>
                </a:ext>
              </a:extLst>
            </p:cNvPr>
            <p:cNvSpPr txBox="1"/>
            <p:nvPr/>
          </p:nvSpPr>
          <p:spPr>
            <a:xfrm>
              <a:off x="493776" y="4399368"/>
              <a:ext cx="2011680" cy="8309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71450" indent="-171450">
                <a:spcBef>
                  <a:spcPts val="600"/>
                </a:spcBef>
                <a:buSzPct val="100000"/>
                <a:buFont typeface="Arial" panose="020B0604020202020204" pitchFamily="34" charset="0"/>
                <a:buChar char="•"/>
              </a:pPr>
              <a:r>
                <a:rPr lang="en-US" sz="1100" dirty="0"/>
                <a:t>High compressive strength </a:t>
              </a:r>
            </a:p>
            <a:p>
              <a:pPr marL="171450" indent="-171450">
                <a:spcBef>
                  <a:spcPts val="600"/>
                </a:spcBef>
                <a:buSzPct val="100000"/>
                <a:buFont typeface="Arial" panose="020B0604020202020204" pitchFamily="34" charset="0"/>
                <a:buChar char="•"/>
              </a:pPr>
              <a:r>
                <a:rPr lang="en-US" sz="1100" dirty="0"/>
                <a:t>Fire resistant </a:t>
              </a:r>
            </a:p>
            <a:p>
              <a:pPr marL="171450" indent="-171450">
                <a:spcBef>
                  <a:spcPts val="600"/>
                </a:spcBef>
                <a:buSzPct val="100000"/>
                <a:buFont typeface="Arial" panose="020B0604020202020204" pitchFamily="34" charset="0"/>
                <a:buChar char="•"/>
              </a:pPr>
              <a:r>
                <a:rPr lang="en-US" sz="1100" dirty="0"/>
                <a:t>Good bond between steel and concrete 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5583B19-0F25-14D6-145C-C1FCDA87F183}"/>
                </a:ext>
              </a:extLst>
            </p:cNvPr>
            <p:cNvSpPr txBox="1"/>
            <p:nvPr/>
          </p:nvSpPr>
          <p:spPr>
            <a:xfrm>
              <a:off x="2598420" y="3796689"/>
              <a:ext cx="2011680" cy="8309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71450" indent="-171450">
                <a:spcBef>
                  <a:spcPts val="600"/>
                </a:spcBef>
                <a:buSzPct val="100000"/>
                <a:buFont typeface="Arial" panose="020B0604020202020204" pitchFamily="34" charset="0"/>
                <a:buChar char="•"/>
              </a:pPr>
              <a:r>
                <a:rPr lang="en-US" sz="1100" dirty="0"/>
                <a:t>Can be cast into any shape/form </a:t>
              </a:r>
            </a:p>
            <a:p>
              <a:pPr marL="171450" indent="-171450">
                <a:spcBef>
                  <a:spcPts val="600"/>
                </a:spcBef>
                <a:buSzPct val="100000"/>
                <a:buFont typeface="Arial" panose="020B0604020202020204" pitchFamily="34" charset="0"/>
                <a:buChar char="•"/>
              </a:pPr>
              <a:r>
                <a:rPr lang="en-US" sz="1100" dirty="0"/>
                <a:t>Strong in both compression &amp; tension (as a composite) </a:t>
              </a:r>
            </a:p>
            <a:p>
              <a:pPr marL="171450" indent="-171450">
                <a:spcBef>
                  <a:spcPts val="600"/>
                </a:spcBef>
                <a:buSzPct val="100000"/>
                <a:buFont typeface="Arial" panose="020B0604020202020204" pitchFamily="34" charset="0"/>
                <a:buChar char="•"/>
              </a:pPr>
              <a:r>
                <a:rPr lang="en-US" sz="1100" dirty="0"/>
                <a:t>Durable and weather resistant 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3267812-CF0E-0B9D-D4D6-4C28515A0D53}"/>
                </a:ext>
              </a:extLst>
            </p:cNvPr>
            <p:cNvSpPr txBox="1"/>
            <p:nvPr/>
          </p:nvSpPr>
          <p:spPr>
            <a:xfrm>
              <a:off x="4704080" y="3210711"/>
              <a:ext cx="2011680" cy="8309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71450" indent="-171450">
                <a:spcBef>
                  <a:spcPts val="600"/>
                </a:spcBef>
                <a:buSzPct val="100000"/>
                <a:buFont typeface="Arial" panose="020B0604020202020204" pitchFamily="34" charset="0"/>
                <a:buChar char="•"/>
              </a:pPr>
              <a:r>
                <a:rPr lang="en-US" sz="1100" dirty="0"/>
                <a:t>More expensive than plain concrete </a:t>
              </a:r>
            </a:p>
            <a:p>
              <a:pPr marL="171450" indent="-171450">
                <a:spcBef>
                  <a:spcPts val="600"/>
                </a:spcBef>
                <a:buSzPct val="100000"/>
                <a:buFont typeface="Arial" panose="020B0604020202020204" pitchFamily="34" charset="0"/>
                <a:buChar char="•"/>
              </a:pPr>
              <a:r>
                <a:rPr lang="en-US" sz="1100" dirty="0"/>
                <a:t>Requires skilled labor and proper detailing </a:t>
              </a:r>
            </a:p>
            <a:p>
              <a:pPr marL="171450" indent="-171450">
                <a:spcBef>
                  <a:spcPts val="600"/>
                </a:spcBef>
                <a:buSzPct val="100000"/>
                <a:buFont typeface="Arial" panose="020B0604020202020204" pitchFamily="34" charset="0"/>
                <a:buChar char="•"/>
              </a:pPr>
              <a:r>
                <a:rPr lang="en-US" sz="1100" dirty="0"/>
                <a:t>Needs curing for adequate strength 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1685F16-0009-E6E3-4C92-5B90E4C5054E}"/>
                </a:ext>
              </a:extLst>
            </p:cNvPr>
            <p:cNvSpPr txBox="1"/>
            <p:nvPr/>
          </p:nvSpPr>
          <p:spPr>
            <a:xfrm>
              <a:off x="6798628" y="2627781"/>
              <a:ext cx="2011680" cy="10002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71450" indent="-171450">
                <a:spcBef>
                  <a:spcPts val="600"/>
                </a:spcBef>
                <a:buSzPct val="100000"/>
                <a:buFont typeface="Arial" panose="020B0604020202020204" pitchFamily="34" charset="0"/>
                <a:buChar char="•"/>
              </a:pPr>
              <a:r>
                <a:rPr lang="en-US" sz="1100" dirty="0"/>
                <a:t>Beams, slabs, columns, foundations </a:t>
              </a:r>
            </a:p>
            <a:p>
              <a:pPr marL="171450" indent="-171450">
                <a:spcBef>
                  <a:spcPts val="600"/>
                </a:spcBef>
                <a:buSzPct val="100000"/>
                <a:buFont typeface="Arial" panose="020B0604020202020204" pitchFamily="34" charset="0"/>
                <a:buChar char="•"/>
              </a:pPr>
              <a:r>
                <a:rPr lang="en-US" sz="1100" dirty="0"/>
                <a:t>Staircases, frames of high rise buildings </a:t>
              </a:r>
            </a:p>
            <a:p>
              <a:pPr marL="171450" indent="-171450">
                <a:spcBef>
                  <a:spcPts val="600"/>
                </a:spcBef>
                <a:buSzPct val="100000"/>
                <a:buFont typeface="Arial" panose="020B0604020202020204" pitchFamily="34" charset="0"/>
                <a:buChar char="•"/>
              </a:pPr>
              <a:r>
                <a:rPr lang="en-US" sz="1100" dirty="0"/>
                <a:t>Structural elements in most modern buildings </a:t>
              </a:r>
            </a:p>
          </p:txBody>
        </p:sp>
      </p:grpSp>
      <p:sp>
        <p:nvSpPr>
          <p:cNvPr id="32" name="Content Placeholder 1">
            <a:extLst>
              <a:ext uri="{FF2B5EF4-FFF2-40B4-BE49-F238E27FC236}">
                <a16:creationId xmlns:a16="http://schemas.microsoft.com/office/drawing/2014/main" id="{664F81AA-7D6D-984D-53E5-B997ADA92873}"/>
              </a:ext>
            </a:extLst>
          </p:cNvPr>
          <p:cNvSpPr txBox="1">
            <a:spLocks/>
          </p:cNvSpPr>
          <p:nvPr/>
        </p:nvSpPr>
        <p:spPr>
          <a:xfrm>
            <a:off x="810874" y="1407127"/>
            <a:ext cx="5207209" cy="10945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rtl="0">
              <a:buNone/>
            </a:pPr>
            <a:r>
              <a:rPr lang="en-US" sz="1500" b="1" i="0" u="none" strike="noStrike" kern="100" baseline="0" dirty="0"/>
              <a:t>Definition</a:t>
            </a:r>
            <a:r>
              <a:rPr lang="en-US" sz="1500" b="0" i="0" u="none" strike="noStrike" kern="100" baseline="0" dirty="0"/>
              <a:t>: Concrete (cement + sand + coarse aggregate + water) reinforced with steel bars </a:t>
            </a:r>
          </a:p>
          <a:p>
            <a:pPr marL="0" indent="0" rtl="0">
              <a:buNone/>
            </a:pPr>
            <a:r>
              <a:rPr lang="en-US" sz="1500" b="1" i="0" u="none" strike="noStrike" kern="100" baseline="0" dirty="0"/>
              <a:t>Purpose</a:t>
            </a:r>
            <a:r>
              <a:rPr lang="en-US" sz="1500" b="0" i="0" u="none" strike="noStrike" kern="100" baseline="0" dirty="0"/>
              <a:t>: Concrete resists compression; steel resists tension </a:t>
            </a:r>
          </a:p>
        </p:txBody>
      </p:sp>
      <p:sp>
        <p:nvSpPr>
          <p:cNvPr id="44" name="Slide Number Placeholder 43">
            <a:extLst>
              <a:ext uri="{FF2B5EF4-FFF2-40B4-BE49-F238E27FC236}">
                <a16:creationId xmlns:a16="http://schemas.microsoft.com/office/drawing/2014/main" id="{E88AD06D-EFF0-4ADE-1F5D-1BA375ACD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2B39849-C024-4E78-B92E-190B74CFFC73}" type="slidenum">
              <a:rPr lang="en-US" sz="1000" smtClean="0"/>
              <a:t>6</a:t>
            </a:fld>
            <a:endParaRPr lang="en-US" sz="1000" dirty="0"/>
          </a:p>
        </p:txBody>
      </p:sp>
      <p:grpSp>
        <p:nvGrpSpPr>
          <p:cNvPr id="48" name="Group 1037">
            <a:extLst>
              <a:ext uri="{FF2B5EF4-FFF2-40B4-BE49-F238E27FC236}">
                <a16:creationId xmlns:a16="http://schemas.microsoft.com/office/drawing/2014/main" id="{7565B0E1-2DF8-448E-1312-F92BC2EAAB6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699560" y="3178762"/>
            <a:ext cx="1132240" cy="1135568"/>
            <a:chOff x="7382" y="4025"/>
            <a:chExt cx="340" cy="341"/>
          </a:xfrm>
          <a:solidFill>
            <a:schemeClr val="accent5"/>
          </a:solidFill>
        </p:grpSpPr>
        <p:sp>
          <p:nvSpPr>
            <p:cNvPr id="49" name="Freeform 1038">
              <a:extLst>
                <a:ext uri="{FF2B5EF4-FFF2-40B4-BE49-F238E27FC236}">
                  <a16:creationId xmlns:a16="http://schemas.microsoft.com/office/drawing/2014/main" id="{89DB5236-EF35-C928-6C9A-351CDB5551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82" y="4025"/>
              <a:ext cx="340" cy="341"/>
            </a:xfrm>
            <a:custGeom>
              <a:avLst/>
              <a:gdLst>
                <a:gd name="T0" fmla="*/ 256 w 512"/>
                <a:gd name="T1" fmla="*/ 21 h 512"/>
                <a:gd name="T2" fmla="*/ 490 w 512"/>
                <a:gd name="T3" fmla="*/ 256 h 512"/>
                <a:gd name="T4" fmla="*/ 256 w 512"/>
                <a:gd name="T5" fmla="*/ 490 h 512"/>
                <a:gd name="T6" fmla="*/ 21 w 512"/>
                <a:gd name="T7" fmla="*/ 256 h 512"/>
                <a:gd name="T8" fmla="*/ 256 w 512"/>
                <a:gd name="T9" fmla="*/ 21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1"/>
                  </a:moveTo>
                  <a:cubicBezTo>
                    <a:pt x="385" y="21"/>
                    <a:pt x="490" y="126"/>
                    <a:pt x="490" y="256"/>
                  </a:cubicBezTo>
                  <a:cubicBezTo>
                    <a:pt x="490" y="385"/>
                    <a:pt x="385" y="490"/>
                    <a:pt x="256" y="490"/>
                  </a:cubicBezTo>
                  <a:cubicBezTo>
                    <a:pt x="126" y="490"/>
                    <a:pt x="21" y="385"/>
                    <a:pt x="21" y="256"/>
                  </a:cubicBezTo>
                  <a:cubicBezTo>
                    <a:pt x="21" y="126"/>
                    <a:pt x="126" y="21"/>
                    <a:pt x="256" y="21"/>
                  </a:cubicBezTo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0" name="Freeform 1039">
              <a:extLst>
                <a:ext uri="{FF2B5EF4-FFF2-40B4-BE49-F238E27FC236}">
                  <a16:creationId xmlns:a16="http://schemas.microsoft.com/office/drawing/2014/main" id="{D5279A31-C338-E8A1-7AF4-3E4C82BC5C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46" y="4103"/>
              <a:ext cx="212" cy="170"/>
            </a:xfrm>
            <a:custGeom>
              <a:avLst/>
              <a:gdLst>
                <a:gd name="T0" fmla="*/ 256 w 320"/>
                <a:gd name="T1" fmla="*/ 11 h 256"/>
                <a:gd name="T2" fmla="*/ 64 w 320"/>
                <a:gd name="T3" fmla="*/ 11 h 256"/>
                <a:gd name="T4" fmla="*/ 0 w 320"/>
                <a:gd name="T5" fmla="*/ 32 h 256"/>
                <a:gd name="T6" fmla="*/ 309 w 320"/>
                <a:gd name="T7" fmla="*/ 256 h 256"/>
                <a:gd name="T8" fmla="*/ 309 w 320"/>
                <a:gd name="T9" fmla="*/ 21 h 256"/>
                <a:gd name="T10" fmla="*/ 149 w 320"/>
                <a:gd name="T11" fmla="*/ 171 h 256"/>
                <a:gd name="T12" fmla="*/ 298 w 320"/>
                <a:gd name="T13" fmla="*/ 235 h 256"/>
                <a:gd name="T14" fmla="*/ 181 w 320"/>
                <a:gd name="T15" fmla="*/ 149 h 256"/>
                <a:gd name="T16" fmla="*/ 128 w 320"/>
                <a:gd name="T17" fmla="*/ 235 h 256"/>
                <a:gd name="T18" fmla="*/ 74 w 320"/>
                <a:gd name="T19" fmla="*/ 43 h 256"/>
                <a:gd name="T20" fmla="*/ 234 w 320"/>
                <a:gd name="T21" fmla="*/ 21 h 256"/>
                <a:gd name="T22" fmla="*/ 298 w 320"/>
                <a:gd name="T23" fmla="*/ 43 h 256"/>
                <a:gd name="T24" fmla="*/ 53 w 320"/>
                <a:gd name="T25" fmla="*/ 85 h 256"/>
                <a:gd name="T26" fmla="*/ 64 w 320"/>
                <a:gd name="T27" fmla="*/ 75 h 256"/>
                <a:gd name="T28" fmla="*/ 85 w 320"/>
                <a:gd name="T29" fmla="*/ 75 h 256"/>
                <a:gd name="T30" fmla="*/ 149 w 320"/>
                <a:gd name="T31" fmla="*/ 75 h 256"/>
                <a:gd name="T32" fmla="*/ 138 w 320"/>
                <a:gd name="T33" fmla="*/ 64 h 256"/>
                <a:gd name="T34" fmla="*/ 181 w 320"/>
                <a:gd name="T35" fmla="*/ 85 h 256"/>
                <a:gd name="T36" fmla="*/ 192 w 320"/>
                <a:gd name="T37" fmla="*/ 75 h 256"/>
                <a:gd name="T38" fmla="*/ 213 w 320"/>
                <a:gd name="T39" fmla="*/ 75 h 256"/>
                <a:gd name="T40" fmla="*/ 256 w 320"/>
                <a:gd name="T41" fmla="*/ 75 h 256"/>
                <a:gd name="T42" fmla="*/ 266 w 320"/>
                <a:gd name="T43" fmla="*/ 85 h 256"/>
                <a:gd name="T44" fmla="*/ 53 w 320"/>
                <a:gd name="T45" fmla="*/ 128 h 256"/>
                <a:gd name="T46" fmla="*/ 64 w 320"/>
                <a:gd name="T47" fmla="*/ 117 h 256"/>
                <a:gd name="T48" fmla="*/ 85 w 320"/>
                <a:gd name="T49" fmla="*/ 117 h 256"/>
                <a:gd name="T50" fmla="*/ 149 w 320"/>
                <a:gd name="T51" fmla="*/ 117 h 256"/>
                <a:gd name="T52" fmla="*/ 138 w 320"/>
                <a:gd name="T53" fmla="*/ 107 h 256"/>
                <a:gd name="T54" fmla="*/ 181 w 320"/>
                <a:gd name="T55" fmla="*/ 128 h 256"/>
                <a:gd name="T56" fmla="*/ 192 w 320"/>
                <a:gd name="T57" fmla="*/ 117 h 256"/>
                <a:gd name="T58" fmla="*/ 213 w 320"/>
                <a:gd name="T59" fmla="*/ 117 h 256"/>
                <a:gd name="T60" fmla="*/ 256 w 320"/>
                <a:gd name="T61" fmla="*/ 117 h 256"/>
                <a:gd name="T62" fmla="*/ 266 w 320"/>
                <a:gd name="T63" fmla="*/ 128 h 256"/>
                <a:gd name="T64" fmla="*/ 53 w 320"/>
                <a:gd name="T65" fmla="*/ 171 h 256"/>
                <a:gd name="T66" fmla="*/ 64 w 320"/>
                <a:gd name="T67" fmla="*/ 160 h 256"/>
                <a:gd name="T68" fmla="*/ 85 w 320"/>
                <a:gd name="T69" fmla="*/ 160 h 256"/>
                <a:gd name="T70" fmla="*/ 234 w 320"/>
                <a:gd name="T71" fmla="*/ 160 h 256"/>
                <a:gd name="T72" fmla="*/ 224 w 320"/>
                <a:gd name="T73" fmla="*/ 149 h 256"/>
                <a:gd name="T74" fmla="*/ 266 w 320"/>
                <a:gd name="T75" fmla="*/ 149 h 256"/>
                <a:gd name="T76" fmla="*/ 256 w 320"/>
                <a:gd name="T77" fmla="*/ 160 h 256"/>
                <a:gd name="T78" fmla="*/ 42 w 320"/>
                <a:gd name="T79" fmla="*/ 203 h 256"/>
                <a:gd name="T80" fmla="*/ 106 w 320"/>
                <a:gd name="T81" fmla="*/ 203 h 256"/>
                <a:gd name="T82" fmla="*/ 96 w 320"/>
                <a:gd name="T83" fmla="*/ 192 h 256"/>
                <a:gd name="T84" fmla="*/ 224 w 320"/>
                <a:gd name="T85" fmla="*/ 213 h 256"/>
                <a:gd name="T86" fmla="*/ 234 w 320"/>
                <a:gd name="T87" fmla="*/ 203 h 256"/>
                <a:gd name="T88" fmla="*/ 277 w 320"/>
                <a:gd name="T89" fmla="*/ 203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20" h="256">
                  <a:moveTo>
                    <a:pt x="309" y="21"/>
                  </a:moveTo>
                  <a:cubicBezTo>
                    <a:pt x="256" y="21"/>
                    <a:pt x="256" y="21"/>
                    <a:pt x="256" y="21"/>
                  </a:cubicBezTo>
                  <a:cubicBezTo>
                    <a:pt x="256" y="11"/>
                    <a:pt x="256" y="11"/>
                    <a:pt x="256" y="11"/>
                  </a:cubicBezTo>
                  <a:cubicBezTo>
                    <a:pt x="256" y="5"/>
                    <a:pt x="251" y="0"/>
                    <a:pt x="245" y="0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68" y="0"/>
                    <a:pt x="64" y="5"/>
                    <a:pt x="64" y="11"/>
                  </a:cubicBezTo>
                  <a:cubicBezTo>
                    <a:pt x="64" y="21"/>
                    <a:pt x="64" y="21"/>
                    <a:pt x="64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4" y="21"/>
                    <a:pt x="0" y="26"/>
                    <a:pt x="0" y="32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0" y="251"/>
                    <a:pt x="4" y="256"/>
                    <a:pt x="10" y="256"/>
                  </a:cubicBezTo>
                  <a:cubicBezTo>
                    <a:pt x="309" y="256"/>
                    <a:pt x="309" y="256"/>
                    <a:pt x="309" y="256"/>
                  </a:cubicBezTo>
                  <a:cubicBezTo>
                    <a:pt x="315" y="256"/>
                    <a:pt x="320" y="251"/>
                    <a:pt x="320" y="245"/>
                  </a:cubicBezTo>
                  <a:cubicBezTo>
                    <a:pt x="320" y="32"/>
                    <a:pt x="320" y="32"/>
                    <a:pt x="320" y="32"/>
                  </a:cubicBezTo>
                  <a:cubicBezTo>
                    <a:pt x="320" y="26"/>
                    <a:pt x="315" y="21"/>
                    <a:pt x="309" y="21"/>
                  </a:cubicBezTo>
                  <a:close/>
                  <a:moveTo>
                    <a:pt x="170" y="235"/>
                  </a:moveTo>
                  <a:cubicBezTo>
                    <a:pt x="149" y="235"/>
                    <a:pt x="149" y="235"/>
                    <a:pt x="149" y="235"/>
                  </a:cubicBezTo>
                  <a:cubicBezTo>
                    <a:pt x="149" y="171"/>
                    <a:pt x="149" y="171"/>
                    <a:pt x="149" y="171"/>
                  </a:cubicBezTo>
                  <a:cubicBezTo>
                    <a:pt x="170" y="171"/>
                    <a:pt x="170" y="171"/>
                    <a:pt x="170" y="171"/>
                  </a:cubicBezTo>
                  <a:lnTo>
                    <a:pt x="170" y="235"/>
                  </a:lnTo>
                  <a:close/>
                  <a:moveTo>
                    <a:pt x="298" y="235"/>
                  </a:moveTo>
                  <a:cubicBezTo>
                    <a:pt x="192" y="235"/>
                    <a:pt x="192" y="235"/>
                    <a:pt x="192" y="235"/>
                  </a:cubicBezTo>
                  <a:cubicBezTo>
                    <a:pt x="192" y="160"/>
                    <a:pt x="192" y="160"/>
                    <a:pt x="192" y="160"/>
                  </a:cubicBezTo>
                  <a:cubicBezTo>
                    <a:pt x="192" y="154"/>
                    <a:pt x="187" y="149"/>
                    <a:pt x="181" y="149"/>
                  </a:cubicBezTo>
                  <a:cubicBezTo>
                    <a:pt x="138" y="149"/>
                    <a:pt x="138" y="149"/>
                    <a:pt x="138" y="149"/>
                  </a:cubicBezTo>
                  <a:cubicBezTo>
                    <a:pt x="132" y="149"/>
                    <a:pt x="128" y="154"/>
                    <a:pt x="128" y="160"/>
                  </a:cubicBezTo>
                  <a:cubicBezTo>
                    <a:pt x="128" y="235"/>
                    <a:pt x="128" y="235"/>
                    <a:pt x="128" y="235"/>
                  </a:cubicBezTo>
                  <a:cubicBezTo>
                    <a:pt x="21" y="235"/>
                    <a:pt x="21" y="235"/>
                    <a:pt x="21" y="235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80" y="43"/>
                    <a:pt x="85" y="38"/>
                    <a:pt x="85" y="32"/>
                  </a:cubicBezTo>
                  <a:cubicBezTo>
                    <a:pt x="85" y="21"/>
                    <a:pt x="85" y="21"/>
                    <a:pt x="85" y="21"/>
                  </a:cubicBezTo>
                  <a:cubicBezTo>
                    <a:pt x="234" y="21"/>
                    <a:pt x="234" y="21"/>
                    <a:pt x="234" y="21"/>
                  </a:cubicBezTo>
                  <a:cubicBezTo>
                    <a:pt x="234" y="32"/>
                    <a:pt x="234" y="32"/>
                    <a:pt x="234" y="32"/>
                  </a:cubicBezTo>
                  <a:cubicBezTo>
                    <a:pt x="234" y="38"/>
                    <a:pt x="239" y="43"/>
                    <a:pt x="245" y="43"/>
                  </a:cubicBezTo>
                  <a:cubicBezTo>
                    <a:pt x="298" y="43"/>
                    <a:pt x="298" y="43"/>
                    <a:pt x="298" y="43"/>
                  </a:cubicBezTo>
                  <a:lnTo>
                    <a:pt x="298" y="235"/>
                  </a:lnTo>
                  <a:close/>
                  <a:moveTo>
                    <a:pt x="64" y="75"/>
                  </a:moveTo>
                  <a:cubicBezTo>
                    <a:pt x="64" y="81"/>
                    <a:pt x="59" y="85"/>
                    <a:pt x="53" y="85"/>
                  </a:cubicBezTo>
                  <a:cubicBezTo>
                    <a:pt x="47" y="85"/>
                    <a:pt x="42" y="81"/>
                    <a:pt x="42" y="75"/>
                  </a:cubicBezTo>
                  <a:cubicBezTo>
                    <a:pt x="42" y="69"/>
                    <a:pt x="47" y="64"/>
                    <a:pt x="53" y="64"/>
                  </a:cubicBezTo>
                  <a:cubicBezTo>
                    <a:pt x="59" y="64"/>
                    <a:pt x="64" y="69"/>
                    <a:pt x="64" y="75"/>
                  </a:cubicBezTo>
                  <a:close/>
                  <a:moveTo>
                    <a:pt x="106" y="75"/>
                  </a:moveTo>
                  <a:cubicBezTo>
                    <a:pt x="106" y="81"/>
                    <a:pt x="102" y="85"/>
                    <a:pt x="96" y="85"/>
                  </a:cubicBezTo>
                  <a:cubicBezTo>
                    <a:pt x="90" y="85"/>
                    <a:pt x="85" y="81"/>
                    <a:pt x="85" y="75"/>
                  </a:cubicBezTo>
                  <a:cubicBezTo>
                    <a:pt x="85" y="69"/>
                    <a:pt x="90" y="64"/>
                    <a:pt x="96" y="64"/>
                  </a:cubicBezTo>
                  <a:cubicBezTo>
                    <a:pt x="102" y="64"/>
                    <a:pt x="106" y="69"/>
                    <a:pt x="106" y="75"/>
                  </a:cubicBezTo>
                  <a:close/>
                  <a:moveTo>
                    <a:pt x="149" y="75"/>
                  </a:moveTo>
                  <a:cubicBezTo>
                    <a:pt x="149" y="81"/>
                    <a:pt x="144" y="85"/>
                    <a:pt x="138" y="85"/>
                  </a:cubicBezTo>
                  <a:cubicBezTo>
                    <a:pt x="132" y="85"/>
                    <a:pt x="128" y="81"/>
                    <a:pt x="128" y="75"/>
                  </a:cubicBezTo>
                  <a:cubicBezTo>
                    <a:pt x="128" y="69"/>
                    <a:pt x="132" y="64"/>
                    <a:pt x="138" y="64"/>
                  </a:cubicBezTo>
                  <a:cubicBezTo>
                    <a:pt x="144" y="64"/>
                    <a:pt x="149" y="69"/>
                    <a:pt x="149" y="75"/>
                  </a:cubicBezTo>
                  <a:close/>
                  <a:moveTo>
                    <a:pt x="192" y="75"/>
                  </a:moveTo>
                  <a:cubicBezTo>
                    <a:pt x="192" y="81"/>
                    <a:pt x="187" y="85"/>
                    <a:pt x="181" y="85"/>
                  </a:cubicBezTo>
                  <a:cubicBezTo>
                    <a:pt x="175" y="85"/>
                    <a:pt x="170" y="81"/>
                    <a:pt x="170" y="75"/>
                  </a:cubicBezTo>
                  <a:cubicBezTo>
                    <a:pt x="170" y="69"/>
                    <a:pt x="175" y="64"/>
                    <a:pt x="181" y="64"/>
                  </a:cubicBezTo>
                  <a:cubicBezTo>
                    <a:pt x="187" y="64"/>
                    <a:pt x="192" y="69"/>
                    <a:pt x="192" y="75"/>
                  </a:cubicBezTo>
                  <a:close/>
                  <a:moveTo>
                    <a:pt x="234" y="75"/>
                  </a:moveTo>
                  <a:cubicBezTo>
                    <a:pt x="234" y="81"/>
                    <a:pt x="230" y="85"/>
                    <a:pt x="224" y="85"/>
                  </a:cubicBezTo>
                  <a:cubicBezTo>
                    <a:pt x="218" y="85"/>
                    <a:pt x="213" y="81"/>
                    <a:pt x="213" y="75"/>
                  </a:cubicBezTo>
                  <a:cubicBezTo>
                    <a:pt x="213" y="69"/>
                    <a:pt x="218" y="64"/>
                    <a:pt x="224" y="64"/>
                  </a:cubicBezTo>
                  <a:cubicBezTo>
                    <a:pt x="230" y="64"/>
                    <a:pt x="234" y="69"/>
                    <a:pt x="234" y="75"/>
                  </a:cubicBezTo>
                  <a:close/>
                  <a:moveTo>
                    <a:pt x="256" y="75"/>
                  </a:moveTo>
                  <a:cubicBezTo>
                    <a:pt x="256" y="69"/>
                    <a:pt x="260" y="64"/>
                    <a:pt x="266" y="64"/>
                  </a:cubicBezTo>
                  <a:cubicBezTo>
                    <a:pt x="272" y="64"/>
                    <a:pt x="277" y="69"/>
                    <a:pt x="277" y="75"/>
                  </a:cubicBezTo>
                  <a:cubicBezTo>
                    <a:pt x="277" y="81"/>
                    <a:pt x="272" y="85"/>
                    <a:pt x="266" y="85"/>
                  </a:cubicBezTo>
                  <a:cubicBezTo>
                    <a:pt x="260" y="85"/>
                    <a:pt x="256" y="81"/>
                    <a:pt x="256" y="75"/>
                  </a:cubicBezTo>
                  <a:close/>
                  <a:moveTo>
                    <a:pt x="64" y="117"/>
                  </a:moveTo>
                  <a:cubicBezTo>
                    <a:pt x="64" y="123"/>
                    <a:pt x="59" y="128"/>
                    <a:pt x="53" y="128"/>
                  </a:cubicBezTo>
                  <a:cubicBezTo>
                    <a:pt x="47" y="128"/>
                    <a:pt x="42" y="123"/>
                    <a:pt x="42" y="117"/>
                  </a:cubicBezTo>
                  <a:cubicBezTo>
                    <a:pt x="42" y="111"/>
                    <a:pt x="47" y="107"/>
                    <a:pt x="53" y="107"/>
                  </a:cubicBezTo>
                  <a:cubicBezTo>
                    <a:pt x="59" y="107"/>
                    <a:pt x="64" y="111"/>
                    <a:pt x="64" y="117"/>
                  </a:cubicBezTo>
                  <a:close/>
                  <a:moveTo>
                    <a:pt x="106" y="117"/>
                  </a:moveTo>
                  <a:cubicBezTo>
                    <a:pt x="106" y="123"/>
                    <a:pt x="102" y="128"/>
                    <a:pt x="96" y="128"/>
                  </a:cubicBezTo>
                  <a:cubicBezTo>
                    <a:pt x="90" y="128"/>
                    <a:pt x="85" y="123"/>
                    <a:pt x="85" y="117"/>
                  </a:cubicBezTo>
                  <a:cubicBezTo>
                    <a:pt x="85" y="111"/>
                    <a:pt x="90" y="107"/>
                    <a:pt x="96" y="107"/>
                  </a:cubicBezTo>
                  <a:cubicBezTo>
                    <a:pt x="102" y="107"/>
                    <a:pt x="106" y="111"/>
                    <a:pt x="106" y="117"/>
                  </a:cubicBezTo>
                  <a:close/>
                  <a:moveTo>
                    <a:pt x="149" y="117"/>
                  </a:moveTo>
                  <a:cubicBezTo>
                    <a:pt x="149" y="123"/>
                    <a:pt x="144" y="128"/>
                    <a:pt x="138" y="128"/>
                  </a:cubicBezTo>
                  <a:cubicBezTo>
                    <a:pt x="132" y="128"/>
                    <a:pt x="128" y="123"/>
                    <a:pt x="128" y="117"/>
                  </a:cubicBezTo>
                  <a:cubicBezTo>
                    <a:pt x="128" y="111"/>
                    <a:pt x="132" y="107"/>
                    <a:pt x="138" y="107"/>
                  </a:cubicBezTo>
                  <a:cubicBezTo>
                    <a:pt x="144" y="107"/>
                    <a:pt x="149" y="111"/>
                    <a:pt x="149" y="117"/>
                  </a:cubicBezTo>
                  <a:close/>
                  <a:moveTo>
                    <a:pt x="192" y="117"/>
                  </a:moveTo>
                  <a:cubicBezTo>
                    <a:pt x="192" y="123"/>
                    <a:pt x="187" y="128"/>
                    <a:pt x="181" y="128"/>
                  </a:cubicBezTo>
                  <a:cubicBezTo>
                    <a:pt x="175" y="128"/>
                    <a:pt x="170" y="123"/>
                    <a:pt x="170" y="117"/>
                  </a:cubicBezTo>
                  <a:cubicBezTo>
                    <a:pt x="170" y="111"/>
                    <a:pt x="175" y="107"/>
                    <a:pt x="181" y="107"/>
                  </a:cubicBezTo>
                  <a:cubicBezTo>
                    <a:pt x="187" y="107"/>
                    <a:pt x="192" y="111"/>
                    <a:pt x="192" y="117"/>
                  </a:cubicBezTo>
                  <a:close/>
                  <a:moveTo>
                    <a:pt x="234" y="117"/>
                  </a:moveTo>
                  <a:cubicBezTo>
                    <a:pt x="234" y="123"/>
                    <a:pt x="230" y="128"/>
                    <a:pt x="224" y="128"/>
                  </a:cubicBezTo>
                  <a:cubicBezTo>
                    <a:pt x="218" y="128"/>
                    <a:pt x="213" y="123"/>
                    <a:pt x="213" y="117"/>
                  </a:cubicBezTo>
                  <a:cubicBezTo>
                    <a:pt x="213" y="111"/>
                    <a:pt x="218" y="107"/>
                    <a:pt x="224" y="107"/>
                  </a:cubicBezTo>
                  <a:cubicBezTo>
                    <a:pt x="230" y="107"/>
                    <a:pt x="234" y="111"/>
                    <a:pt x="234" y="117"/>
                  </a:cubicBezTo>
                  <a:close/>
                  <a:moveTo>
                    <a:pt x="256" y="117"/>
                  </a:moveTo>
                  <a:cubicBezTo>
                    <a:pt x="256" y="111"/>
                    <a:pt x="260" y="107"/>
                    <a:pt x="266" y="107"/>
                  </a:cubicBezTo>
                  <a:cubicBezTo>
                    <a:pt x="272" y="107"/>
                    <a:pt x="277" y="111"/>
                    <a:pt x="277" y="117"/>
                  </a:cubicBezTo>
                  <a:cubicBezTo>
                    <a:pt x="277" y="123"/>
                    <a:pt x="272" y="128"/>
                    <a:pt x="266" y="128"/>
                  </a:cubicBezTo>
                  <a:cubicBezTo>
                    <a:pt x="260" y="128"/>
                    <a:pt x="256" y="123"/>
                    <a:pt x="256" y="117"/>
                  </a:cubicBezTo>
                  <a:close/>
                  <a:moveTo>
                    <a:pt x="64" y="160"/>
                  </a:moveTo>
                  <a:cubicBezTo>
                    <a:pt x="64" y="166"/>
                    <a:pt x="59" y="171"/>
                    <a:pt x="53" y="171"/>
                  </a:cubicBezTo>
                  <a:cubicBezTo>
                    <a:pt x="47" y="171"/>
                    <a:pt x="42" y="166"/>
                    <a:pt x="42" y="160"/>
                  </a:cubicBezTo>
                  <a:cubicBezTo>
                    <a:pt x="42" y="154"/>
                    <a:pt x="47" y="149"/>
                    <a:pt x="53" y="149"/>
                  </a:cubicBezTo>
                  <a:cubicBezTo>
                    <a:pt x="59" y="149"/>
                    <a:pt x="64" y="154"/>
                    <a:pt x="64" y="160"/>
                  </a:cubicBezTo>
                  <a:close/>
                  <a:moveTo>
                    <a:pt x="106" y="160"/>
                  </a:moveTo>
                  <a:cubicBezTo>
                    <a:pt x="106" y="166"/>
                    <a:pt x="102" y="171"/>
                    <a:pt x="96" y="171"/>
                  </a:cubicBezTo>
                  <a:cubicBezTo>
                    <a:pt x="90" y="171"/>
                    <a:pt x="85" y="166"/>
                    <a:pt x="85" y="160"/>
                  </a:cubicBezTo>
                  <a:cubicBezTo>
                    <a:pt x="85" y="154"/>
                    <a:pt x="90" y="149"/>
                    <a:pt x="96" y="149"/>
                  </a:cubicBezTo>
                  <a:cubicBezTo>
                    <a:pt x="102" y="149"/>
                    <a:pt x="106" y="154"/>
                    <a:pt x="106" y="160"/>
                  </a:cubicBezTo>
                  <a:close/>
                  <a:moveTo>
                    <a:pt x="234" y="160"/>
                  </a:moveTo>
                  <a:cubicBezTo>
                    <a:pt x="234" y="166"/>
                    <a:pt x="230" y="171"/>
                    <a:pt x="224" y="171"/>
                  </a:cubicBezTo>
                  <a:cubicBezTo>
                    <a:pt x="218" y="171"/>
                    <a:pt x="213" y="166"/>
                    <a:pt x="213" y="160"/>
                  </a:cubicBezTo>
                  <a:cubicBezTo>
                    <a:pt x="213" y="154"/>
                    <a:pt x="218" y="149"/>
                    <a:pt x="224" y="149"/>
                  </a:cubicBezTo>
                  <a:cubicBezTo>
                    <a:pt x="230" y="149"/>
                    <a:pt x="234" y="154"/>
                    <a:pt x="234" y="160"/>
                  </a:cubicBezTo>
                  <a:close/>
                  <a:moveTo>
                    <a:pt x="256" y="160"/>
                  </a:moveTo>
                  <a:cubicBezTo>
                    <a:pt x="256" y="154"/>
                    <a:pt x="260" y="149"/>
                    <a:pt x="266" y="149"/>
                  </a:cubicBezTo>
                  <a:cubicBezTo>
                    <a:pt x="272" y="149"/>
                    <a:pt x="277" y="154"/>
                    <a:pt x="277" y="160"/>
                  </a:cubicBezTo>
                  <a:cubicBezTo>
                    <a:pt x="277" y="166"/>
                    <a:pt x="272" y="171"/>
                    <a:pt x="266" y="171"/>
                  </a:cubicBezTo>
                  <a:cubicBezTo>
                    <a:pt x="260" y="171"/>
                    <a:pt x="256" y="166"/>
                    <a:pt x="256" y="160"/>
                  </a:cubicBezTo>
                  <a:close/>
                  <a:moveTo>
                    <a:pt x="64" y="203"/>
                  </a:moveTo>
                  <a:cubicBezTo>
                    <a:pt x="64" y="209"/>
                    <a:pt x="59" y="213"/>
                    <a:pt x="53" y="213"/>
                  </a:cubicBezTo>
                  <a:cubicBezTo>
                    <a:pt x="47" y="213"/>
                    <a:pt x="42" y="209"/>
                    <a:pt x="42" y="203"/>
                  </a:cubicBezTo>
                  <a:cubicBezTo>
                    <a:pt x="42" y="197"/>
                    <a:pt x="47" y="192"/>
                    <a:pt x="53" y="192"/>
                  </a:cubicBezTo>
                  <a:cubicBezTo>
                    <a:pt x="59" y="192"/>
                    <a:pt x="64" y="197"/>
                    <a:pt x="64" y="203"/>
                  </a:cubicBezTo>
                  <a:close/>
                  <a:moveTo>
                    <a:pt x="106" y="203"/>
                  </a:moveTo>
                  <a:cubicBezTo>
                    <a:pt x="106" y="209"/>
                    <a:pt x="102" y="213"/>
                    <a:pt x="96" y="213"/>
                  </a:cubicBezTo>
                  <a:cubicBezTo>
                    <a:pt x="90" y="213"/>
                    <a:pt x="85" y="209"/>
                    <a:pt x="85" y="203"/>
                  </a:cubicBezTo>
                  <a:cubicBezTo>
                    <a:pt x="85" y="197"/>
                    <a:pt x="90" y="192"/>
                    <a:pt x="96" y="192"/>
                  </a:cubicBezTo>
                  <a:cubicBezTo>
                    <a:pt x="102" y="192"/>
                    <a:pt x="106" y="197"/>
                    <a:pt x="106" y="203"/>
                  </a:cubicBezTo>
                  <a:close/>
                  <a:moveTo>
                    <a:pt x="234" y="203"/>
                  </a:moveTo>
                  <a:cubicBezTo>
                    <a:pt x="234" y="209"/>
                    <a:pt x="230" y="213"/>
                    <a:pt x="224" y="213"/>
                  </a:cubicBezTo>
                  <a:cubicBezTo>
                    <a:pt x="218" y="213"/>
                    <a:pt x="213" y="209"/>
                    <a:pt x="213" y="203"/>
                  </a:cubicBezTo>
                  <a:cubicBezTo>
                    <a:pt x="213" y="197"/>
                    <a:pt x="218" y="192"/>
                    <a:pt x="224" y="192"/>
                  </a:cubicBezTo>
                  <a:cubicBezTo>
                    <a:pt x="230" y="192"/>
                    <a:pt x="234" y="197"/>
                    <a:pt x="234" y="203"/>
                  </a:cubicBezTo>
                  <a:close/>
                  <a:moveTo>
                    <a:pt x="256" y="203"/>
                  </a:moveTo>
                  <a:cubicBezTo>
                    <a:pt x="256" y="197"/>
                    <a:pt x="260" y="192"/>
                    <a:pt x="266" y="192"/>
                  </a:cubicBezTo>
                  <a:cubicBezTo>
                    <a:pt x="272" y="192"/>
                    <a:pt x="277" y="197"/>
                    <a:pt x="277" y="203"/>
                  </a:cubicBezTo>
                  <a:cubicBezTo>
                    <a:pt x="277" y="209"/>
                    <a:pt x="272" y="213"/>
                    <a:pt x="266" y="213"/>
                  </a:cubicBezTo>
                  <a:cubicBezTo>
                    <a:pt x="260" y="213"/>
                    <a:pt x="256" y="209"/>
                    <a:pt x="256" y="20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grpSp>
        <p:nvGrpSpPr>
          <p:cNvPr id="51" name="Group 578">
            <a:extLst>
              <a:ext uri="{FF2B5EF4-FFF2-40B4-BE49-F238E27FC236}">
                <a16:creationId xmlns:a16="http://schemas.microsoft.com/office/drawing/2014/main" id="{114D4EF6-A18C-C58C-BF61-615A6628FD5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22292" y="2586749"/>
            <a:ext cx="1133856" cy="1133856"/>
            <a:chOff x="1932" y="2478"/>
            <a:chExt cx="340" cy="340"/>
          </a:xfrm>
          <a:solidFill>
            <a:schemeClr val="accent1"/>
          </a:solidFill>
        </p:grpSpPr>
        <p:sp>
          <p:nvSpPr>
            <p:cNvPr id="52" name="Freeform 579">
              <a:extLst>
                <a:ext uri="{FF2B5EF4-FFF2-40B4-BE49-F238E27FC236}">
                  <a16:creationId xmlns:a16="http://schemas.microsoft.com/office/drawing/2014/main" id="{398B8B3D-450C-FE2A-93B7-ABC43B0078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96" y="2548"/>
              <a:ext cx="202" cy="185"/>
            </a:xfrm>
            <a:custGeom>
              <a:avLst/>
              <a:gdLst>
                <a:gd name="T0" fmla="*/ 298 w 304"/>
                <a:gd name="T1" fmla="*/ 160 h 278"/>
                <a:gd name="T2" fmla="*/ 234 w 304"/>
                <a:gd name="T3" fmla="*/ 96 h 278"/>
                <a:gd name="T4" fmla="*/ 196 w 304"/>
                <a:gd name="T5" fmla="*/ 96 h 278"/>
                <a:gd name="T6" fmla="*/ 213 w 304"/>
                <a:gd name="T7" fmla="*/ 46 h 278"/>
                <a:gd name="T8" fmla="*/ 199 w 304"/>
                <a:gd name="T9" fmla="*/ 3 h 278"/>
                <a:gd name="T10" fmla="*/ 191 w 304"/>
                <a:gd name="T11" fmla="*/ 0 h 278"/>
                <a:gd name="T12" fmla="*/ 184 w 304"/>
                <a:gd name="T13" fmla="*/ 4 h 278"/>
                <a:gd name="T14" fmla="*/ 89 w 304"/>
                <a:gd name="T15" fmla="*/ 112 h 278"/>
                <a:gd name="T16" fmla="*/ 88 w 304"/>
                <a:gd name="T17" fmla="*/ 114 h 278"/>
                <a:gd name="T18" fmla="*/ 79 w 304"/>
                <a:gd name="T19" fmla="*/ 128 h 278"/>
                <a:gd name="T20" fmla="*/ 10 w 304"/>
                <a:gd name="T21" fmla="*/ 128 h 278"/>
                <a:gd name="T22" fmla="*/ 0 w 304"/>
                <a:gd name="T23" fmla="*/ 139 h 278"/>
                <a:gd name="T24" fmla="*/ 0 w 304"/>
                <a:gd name="T25" fmla="*/ 256 h 278"/>
                <a:gd name="T26" fmla="*/ 10 w 304"/>
                <a:gd name="T27" fmla="*/ 267 h 278"/>
                <a:gd name="T28" fmla="*/ 95 w 304"/>
                <a:gd name="T29" fmla="*/ 267 h 278"/>
                <a:gd name="T30" fmla="*/ 128 w 304"/>
                <a:gd name="T31" fmla="*/ 278 h 278"/>
                <a:gd name="T32" fmla="*/ 224 w 304"/>
                <a:gd name="T33" fmla="*/ 278 h 278"/>
                <a:gd name="T34" fmla="*/ 274 w 304"/>
                <a:gd name="T35" fmla="*/ 256 h 278"/>
                <a:gd name="T36" fmla="*/ 298 w 304"/>
                <a:gd name="T37" fmla="*/ 160 h 278"/>
                <a:gd name="T38" fmla="*/ 21 w 304"/>
                <a:gd name="T39" fmla="*/ 150 h 278"/>
                <a:gd name="T40" fmla="*/ 74 w 304"/>
                <a:gd name="T41" fmla="*/ 150 h 278"/>
                <a:gd name="T42" fmla="*/ 74 w 304"/>
                <a:gd name="T43" fmla="*/ 150 h 278"/>
                <a:gd name="T44" fmla="*/ 74 w 304"/>
                <a:gd name="T45" fmla="*/ 224 h 278"/>
                <a:gd name="T46" fmla="*/ 78 w 304"/>
                <a:gd name="T47" fmla="*/ 246 h 278"/>
                <a:gd name="T48" fmla="*/ 21 w 304"/>
                <a:gd name="T49" fmla="*/ 246 h 278"/>
                <a:gd name="T50" fmla="*/ 21 w 304"/>
                <a:gd name="T51" fmla="*/ 150 h 278"/>
                <a:gd name="T52" fmla="*/ 258 w 304"/>
                <a:gd name="T53" fmla="*/ 242 h 278"/>
                <a:gd name="T54" fmla="*/ 224 w 304"/>
                <a:gd name="T55" fmla="*/ 256 h 278"/>
                <a:gd name="T56" fmla="*/ 128 w 304"/>
                <a:gd name="T57" fmla="*/ 256 h 278"/>
                <a:gd name="T58" fmla="*/ 96 w 304"/>
                <a:gd name="T59" fmla="*/ 224 h 278"/>
                <a:gd name="T60" fmla="*/ 96 w 304"/>
                <a:gd name="T61" fmla="*/ 150 h 278"/>
                <a:gd name="T62" fmla="*/ 104 w 304"/>
                <a:gd name="T63" fmla="*/ 127 h 278"/>
                <a:gd name="T64" fmla="*/ 105 w 304"/>
                <a:gd name="T65" fmla="*/ 127 h 278"/>
                <a:gd name="T66" fmla="*/ 191 w 304"/>
                <a:gd name="T67" fmla="*/ 28 h 278"/>
                <a:gd name="T68" fmla="*/ 192 w 304"/>
                <a:gd name="T69" fmla="*/ 40 h 278"/>
                <a:gd name="T70" fmla="*/ 171 w 304"/>
                <a:gd name="T71" fmla="*/ 104 h 278"/>
                <a:gd name="T72" fmla="*/ 171 w 304"/>
                <a:gd name="T73" fmla="*/ 104 h 278"/>
                <a:gd name="T74" fmla="*/ 170 w 304"/>
                <a:gd name="T75" fmla="*/ 107 h 278"/>
                <a:gd name="T76" fmla="*/ 181 w 304"/>
                <a:gd name="T77" fmla="*/ 118 h 278"/>
                <a:gd name="T78" fmla="*/ 234 w 304"/>
                <a:gd name="T79" fmla="*/ 118 h 278"/>
                <a:gd name="T80" fmla="*/ 277 w 304"/>
                <a:gd name="T81" fmla="*/ 161 h 278"/>
                <a:gd name="T82" fmla="*/ 258 w 304"/>
                <a:gd name="T83" fmla="*/ 242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04" h="278">
                  <a:moveTo>
                    <a:pt x="298" y="160"/>
                  </a:moveTo>
                  <a:cubicBezTo>
                    <a:pt x="298" y="129"/>
                    <a:pt x="265" y="96"/>
                    <a:pt x="234" y="96"/>
                  </a:cubicBezTo>
                  <a:cubicBezTo>
                    <a:pt x="196" y="96"/>
                    <a:pt x="196" y="96"/>
                    <a:pt x="196" y="96"/>
                  </a:cubicBezTo>
                  <a:cubicBezTo>
                    <a:pt x="213" y="46"/>
                    <a:pt x="213" y="46"/>
                    <a:pt x="213" y="46"/>
                  </a:cubicBezTo>
                  <a:cubicBezTo>
                    <a:pt x="219" y="23"/>
                    <a:pt x="200" y="4"/>
                    <a:pt x="199" y="3"/>
                  </a:cubicBezTo>
                  <a:cubicBezTo>
                    <a:pt x="197" y="1"/>
                    <a:pt x="194" y="0"/>
                    <a:pt x="191" y="0"/>
                  </a:cubicBezTo>
                  <a:cubicBezTo>
                    <a:pt x="188" y="0"/>
                    <a:pt x="186" y="2"/>
                    <a:pt x="184" y="4"/>
                  </a:cubicBezTo>
                  <a:cubicBezTo>
                    <a:pt x="89" y="112"/>
                    <a:pt x="89" y="112"/>
                    <a:pt x="89" y="112"/>
                  </a:cubicBezTo>
                  <a:cubicBezTo>
                    <a:pt x="89" y="112"/>
                    <a:pt x="89" y="112"/>
                    <a:pt x="88" y="114"/>
                  </a:cubicBezTo>
                  <a:cubicBezTo>
                    <a:pt x="84" y="118"/>
                    <a:pt x="81" y="123"/>
                    <a:pt x="79" y="128"/>
                  </a:cubicBezTo>
                  <a:cubicBezTo>
                    <a:pt x="10" y="128"/>
                    <a:pt x="10" y="128"/>
                    <a:pt x="10" y="128"/>
                  </a:cubicBezTo>
                  <a:cubicBezTo>
                    <a:pt x="4" y="128"/>
                    <a:pt x="0" y="133"/>
                    <a:pt x="0" y="139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0" y="262"/>
                    <a:pt x="4" y="267"/>
                    <a:pt x="10" y="267"/>
                  </a:cubicBezTo>
                  <a:cubicBezTo>
                    <a:pt x="95" y="267"/>
                    <a:pt x="95" y="267"/>
                    <a:pt x="95" y="267"/>
                  </a:cubicBezTo>
                  <a:cubicBezTo>
                    <a:pt x="104" y="274"/>
                    <a:pt x="115" y="278"/>
                    <a:pt x="128" y="278"/>
                  </a:cubicBezTo>
                  <a:cubicBezTo>
                    <a:pt x="224" y="278"/>
                    <a:pt x="224" y="278"/>
                    <a:pt x="224" y="278"/>
                  </a:cubicBezTo>
                  <a:cubicBezTo>
                    <a:pt x="244" y="278"/>
                    <a:pt x="261" y="271"/>
                    <a:pt x="274" y="256"/>
                  </a:cubicBezTo>
                  <a:cubicBezTo>
                    <a:pt x="304" y="223"/>
                    <a:pt x="299" y="162"/>
                    <a:pt x="298" y="160"/>
                  </a:cubicBezTo>
                  <a:close/>
                  <a:moveTo>
                    <a:pt x="21" y="150"/>
                  </a:moveTo>
                  <a:cubicBezTo>
                    <a:pt x="74" y="150"/>
                    <a:pt x="74" y="150"/>
                    <a:pt x="74" y="150"/>
                  </a:cubicBezTo>
                  <a:cubicBezTo>
                    <a:pt x="74" y="150"/>
                    <a:pt x="74" y="150"/>
                    <a:pt x="74" y="150"/>
                  </a:cubicBezTo>
                  <a:cubicBezTo>
                    <a:pt x="74" y="224"/>
                    <a:pt x="74" y="224"/>
                    <a:pt x="74" y="224"/>
                  </a:cubicBezTo>
                  <a:cubicBezTo>
                    <a:pt x="74" y="232"/>
                    <a:pt x="76" y="239"/>
                    <a:pt x="78" y="246"/>
                  </a:cubicBezTo>
                  <a:cubicBezTo>
                    <a:pt x="21" y="246"/>
                    <a:pt x="21" y="246"/>
                    <a:pt x="21" y="246"/>
                  </a:cubicBezTo>
                  <a:lnTo>
                    <a:pt x="21" y="150"/>
                  </a:lnTo>
                  <a:close/>
                  <a:moveTo>
                    <a:pt x="258" y="242"/>
                  </a:moveTo>
                  <a:cubicBezTo>
                    <a:pt x="250" y="252"/>
                    <a:pt x="238" y="256"/>
                    <a:pt x="224" y="256"/>
                  </a:cubicBezTo>
                  <a:cubicBezTo>
                    <a:pt x="128" y="256"/>
                    <a:pt x="128" y="256"/>
                    <a:pt x="128" y="256"/>
                  </a:cubicBezTo>
                  <a:cubicBezTo>
                    <a:pt x="109" y="256"/>
                    <a:pt x="96" y="243"/>
                    <a:pt x="96" y="224"/>
                  </a:cubicBezTo>
                  <a:cubicBezTo>
                    <a:pt x="96" y="150"/>
                    <a:pt x="96" y="150"/>
                    <a:pt x="96" y="150"/>
                  </a:cubicBezTo>
                  <a:cubicBezTo>
                    <a:pt x="96" y="142"/>
                    <a:pt x="99" y="134"/>
                    <a:pt x="104" y="127"/>
                  </a:cubicBezTo>
                  <a:cubicBezTo>
                    <a:pt x="105" y="127"/>
                    <a:pt x="105" y="127"/>
                    <a:pt x="105" y="127"/>
                  </a:cubicBezTo>
                  <a:cubicBezTo>
                    <a:pt x="191" y="28"/>
                    <a:pt x="191" y="28"/>
                    <a:pt x="191" y="28"/>
                  </a:cubicBezTo>
                  <a:cubicBezTo>
                    <a:pt x="192" y="32"/>
                    <a:pt x="193" y="36"/>
                    <a:pt x="192" y="40"/>
                  </a:cubicBezTo>
                  <a:cubicBezTo>
                    <a:pt x="171" y="104"/>
                    <a:pt x="171" y="104"/>
                    <a:pt x="171" y="104"/>
                  </a:cubicBezTo>
                  <a:cubicBezTo>
                    <a:pt x="171" y="104"/>
                    <a:pt x="171" y="104"/>
                    <a:pt x="171" y="104"/>
                  </a:cubicBezTo>
                  <a:cubicBezTo>
                    <a:pt x="171" y="105"/>
                    <a:pt x="170" y="106"/>
                    <a:pt x="170" y="107"/>
                  </a:cubicBezTo>
                  <a:cubicBezTo>
                    <a:pt x="170" y="113"/>
                    <a:pt x="175" y="118"/>
                    <a:pt x="181" y="118"/>
                  </a:cubicBezTo>
                  <a:cubicBezTo>
                    <a:pt x="234" y="118"/>
                    <a:pt x="234" y="118"/>
                    <a:pt x="234" y="118"/>
                  </a:cubicBezTo>
                  <a:cubicBezTo>
                    <a:pt x="253" y="118"/>
                    <a:pt x="277" y="141"/>
                    <a:pt x="277" y="161"/>
                  </a:cubicBezTo>
                  <a:cubicBezTo>
                    <a:pt x="277" y="162"/>
                    <a:pt x="282" y="216"/>
                    <a:pt x="258" y="2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3" name="Freeform 580">
              <a:extLst>
                <a:ext uri="{FF2B5EF4-FFF2-40B4-BE49-F238E27FC236}">
                  <a16:creationId xmlns:a16="http://schemas.microsoft.com/office/drawing/2014/main" id="{0DA44A9F-5F2E-E111-DE75-C2AAF29CF0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32" y="2478"/>
              <a:ext cx="340" cy="340"/>
            </a:xfrm>
            <a:custGeom>
              <a:avLst/>
              <a:gdLst>
                <a:gd name="T0" fmla="*/ 256 w 512"/>
                <a:gd name="T1" fmla="*/ 21 h 512"/>
                <a:gd name="T2" fmla="*/ 490 w 512"/>
                <a:gd name="T3" fmla="*/ 256 h 512"/>
                <a:gd name="T4" fmla="*/ 256 w 512"/>
                <a:gd name="T5" fmla="*/ 490 h 512"/>
                <a:gd name="T6" fmla="*/ 21 w 512"/>
                <a:gd name="T7" fmla="*/ 256 h 512"/>
                <a:gd name="T8" fmla="*/ 256 w 512"/>
                <a:gd name="T9" fmla="*/ 21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1"/>
                  </a:moveTo>
                  <a:cubicBezTo>
                    <a:pt x="385" y="21"/>
                    <a:pt x="490" y="126"/>
                    <a:pt x="490" y="256"/>
                  </a:cubicBezTo>
                  <a:cubicBezTo>
                    <a:pt x="490" y="385"/>
                    <a:pt x="385" y="490"/>
                    <a:pt x="256" y="490"/>
                  </a:cubicBezTo>
                  <a:cubicBezTo>
                    <a:pt x="126" y="490"/>
                    <a:pt x="21" y="385"/>
                    <a:pt x="21" y="256"/>
                  </a:cubicBezTo>
                  <a:cubicBezTo>
                    <a:pt x="21" y="126"/>
                    <a:pt x="126" y="21"/>
                    <a:pt x="256" y="21"/>
                  </a:cubicBezTo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grpSp>
        <p:nvGrpSpPr>
          <p:cNvPr id="54" name="Group 289">
            <a:extLst>
              <a:ext uri="{FF2B5EF4-FFF2-40B4-BE49-F238E27FC236}">
                <a16:creationId xmlns:a16="http://schemas.microsoft.com/office/drawing/2014/main" id="{0E192763-BEE2-5813-1CEE-97CD56336BA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892032" y="2011347"/>
            <a:ext cx="1133856" cy="1133856"/>
            <a:chOff x="399" y="1137"/>
            <a:chExt cx="340" cy="340"/>
          </a:xfrm>
          <a:solidFill>
            <a:schemeClr val="accent4"/>
          </a:solidFill>
        </p:grpSpPr>
        <p:sp>
          <p:nvSpPr>
            <p:cNvPr id="55" name="Freeform 290">
              <a:extLst>
                <a:ext uri="{FF2B5EF4-FFF2-40B4-BE49-F238E27FC236}">
                  <a16:creationId xmlns:a16="http://schemas.microsoft.com/office/drawing/2014/main" id="{4A42DE9D-6008-17C5-7807-4863A79D0E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9" y="1229"/>
              <a:ext cx="202" cy="184"/>
            </a:xfrm>
            <a:custGeom>
              <a:avLst/>
              <a:gdLst>
                <a:gd name="T0" fmla="*/ 294 w 304"/>
                <a:gd name="T1" fmla="*/ 11 h 278"/>
                <a:gd name="T2" fmla="*/ 209 w 304"/>
                <a:gd name="T3" fmla="*/ 11 h 278"/>
                <a:gd name="T4" fmla="*/ 177 w 304"/>
                <a:gd name="T5" fmla="*/ 0 h 278"/>
                <a:gd name="T6" fmla="*/ 81 w 304"/>
                <a:gd name="T7" fmla="*/ 0 h 278"/>
                <a:gd name="T8" fmla="*/ 31 w 304"/>
                <a:gd name="T9" fmla="*/ 22 h 278"/>
                <a:gd name="T10" fmla="*/ 6 w 304"/>
                <a:gd name="T11" fmla="*/ 118 h 278"/>
                <a:gd name="T12" fmla="*/ 70 w 304"/>
                <a:gd name="T13" fmla="*/ 182 h 278"/>
                <a:gd name="T14" fmla="*/ 108 w 304"/>
                <a:gd name="T15" fmla="*/ 182 h 278"/>
                <a:gd name="T16" fmla="*/ 92 w 304"/>
                <a:gd name="T17" fmla="*/ 232 h 278"/>
                <a:gd name="T18" fmla="*/ 105 w 304"/>
                <a:gd name="T19" fmla="*/ 275 h 278"/>
                <a:gd name="T20" fmla="*/ 113 w 304"/>
                <a:gd name="T21" fmla="*/ 278 h 278"/>
                <a:gd name="T22" fmla="*/ 113 w 304"/>
                <a:gd name="T23" fmla="*/ 278 h 278"/>
                <a:gd name="T24" fmla="*/ 121 w 304"/>
                <a:gd name="T25" fmla="*/ 274 h 278"/>
                <a:gd name="T26" fmla="*/ 216 w 304"/>
                <a:gd name="T27" fmla="*/ 164 h 278"/>
                <a:gd name="T28" fmla="*/ 216 w 304"/>
                <a:gd name="T29" fmla="*/ 164 h 278"/>
                <a:gd name="T30" fmla="*/ 216 w 304"/>
                <a:gd name="T31" fmla="*/ 164 h 278"/>
                <a:gd name="T32" fmla="*/ 225 w 304"/>
                <a:gd name="T33" fmla="*/ 150 h 278"/>
                <a:gd name="T34" fmla="*/ 294 w 304"/>
                <a:gd name="T35" fmla="*/ 150 h 278"/>
                <a:gd name="T36" fmla="*/ 304 w 304"/>
                <a:gd name="T37" fmla="*/ 139 h 278"/>
                <a:gd name="T38" fmla="*/ 304 w 304"/>
                <a:gd name="T39" fmla="*/ 22 h 278"/>
                <a:gd name="T40" fmla="*/ 294 w 304"/>
                <a:gd name="T41" fmla="*/ 11 h 278"/>
                <a:gd name="T42" fmla="*/ 114 w 304"/>
                <a:gd name="T43" fmla="*/ 250 h 278"/>
                <a:gd name="T44" fmla="*/ 112 w 304"/>
                <a:gd name="T45" fmla="*/ 238 h 278"/>
                <a:gd name="T46" fmla="*/ 133 w 304"/>
                <a:gd name="T47" fmla="*/ 174 h 278"/>
                <a:gd name="T48" fmla="*/ 133 w 304"/>
                <a:gd name="T49" fmla="*/ 174 h 278"/>
                <a:gd name="T50" fmla="*/ 134 w 304"/>
                <a:gd name="T51" fmla="*/ 171 h 278"/>
                <a:gd name="T52" fmla="*/ 123 w 304"/>
                <a:gd name="T53" fmla="*/ 160 h 278"/>
                <a:gd name="T54" fmla="*/ 70 w 304"/>
                <a:gd name="T55" fmla="*/ 160 h 278"/>
                <a:gd name="T56" fmla="*/ 27 w 304"/>
                <a:gd name="T57" fmla="*/ 117 h 278"/>
                <a:gd name="T58" fmla="*/ 46 w 304"/>
                <a:gd name="T59" fmla="*/ 36 h 278"/>
                <a:gd name="T60" fmla="*/ 81 w 304"/>
                <a:gd name="T61" fmla="*/ 22 h 278"/>
                <a:gd name="T62" fmla="*/ 177 w 304"/>
                <a:gd name="T63" fmla="*/ 22 h 278"/>
                <a:gd name="T64" fmla="*/ 208 w 304"/>
                <a:gd name="T65" fmla="*/ 54 h 278"/>
                <a:gd name="T66" fmla="*/ 208 w 304"/>
                <a:gd name="T67" fmla="*/ 128 h 278"/>
                <a:gd name="T68" fmla="*/ 200 w 304"/>
                <a:gd name="T69" fmla="*/ 150 h 278"/>
                <a:gd name="T70" fmla="*/ 114 w 304"/>
                <a:gd name="T71" fmla="*/ 250 h 278"/>
                <a:gd name="T72" fmla="*/ 283 w 304"/>
                <a:gd name="T73" fmla="*/ 128 h 278"/>
                <a:gd name="T74" fmla="*/ 230 w 304"/>
                <a:gd name="T75" fmla="*/ 128 h 278"/>
                <a:gd name="T76" fmla="*/ 230 w 304"/>
                <a:gd name="T77" fmla="*/ 128 h 278"/>
                <a:gd name="T78" fmla="*/ 230 w 304"/>
                <a:gd name="T79" fmla="*/ 54 h 278"/>
                <a:gd name="T80" fmla="*/ 226 w 304"/>
                <a:gd name="T81" fmla="*/ 32 h 278"/>
                <a:gd name="T82" fmla="*/ 283 w 304"/>
                <a:gd name="T83" fmla="*/ 32 h 278"/>
                <a:gd name="T84" fmla="*/ 283 w 304"/>
                <a:gd name="T85" fmla="*/ 12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04" h="278">
                  <a:moveTo>
                    <a:pt x="294" y="11"/>
                  </a:moveTo>
                  <a:cubicBezTo>
                    <a:pt x="209" y="11"/>
                    <a:pt x="209" y="11"/>
                    <a:pt x="209" y="11"/>
                  </a:cubicBezTo>
                  <a:cubicBezTo>
                    <a:pt x="201" y="4"/>
                    <a:pt x="190" y="0"/>
                    <a:pt x="177" y="0"/>
                  </a:cubicBezTo>
                  <a:cubicBezTo>
                    <a:pt x="81" y="0"/>
                    <a:pt x="81" y="0"/>
                    <a:pt x="81" y="0"/>
                  </a:cubicBezTo>
                  <a:cubicBezTo>
                    <a:pt x="60" y="0"/>
                    <a:pt x="43" y="7"/>
                    <a:pt x="31" y="22"/>
                  </a:cubicBezTo>
                  <a:cubicBezTo>
                    <a:pt x="0" y="55"/>
                    <a:pt x="6" y="116"/>
                    <a:pt x="6" y="118"/>
                  </a:cubicBezTo>
                  <a:cubicBezTo>
                    <a:pt x="6" y="149"/>
                    <a:pt x="39" y="182"/>
                    <a:pt x="70" y="182"/>
                  </a:cubicBezTo>
                  <a:cubicBezTo>
                    <a:pt x="108" y="182"/>
                    <a:pt x="108" y="182"/>
                    <a:pt x="108" y="182"/>
                  </a:cubicBezTo>
                  <a:cubicBezTo>
                    <a:pt x="92" y="232"/>
                    <a:pt x="92" y="232"/>
                    <a:pt x="92" y="232"/>
                  </a:cubicBezTo>
                  <a:cubicBezTo>
                    <a:pt x="86" y="255"/>
                    <a:pt x="105" y="274"/>
                    <a:pt x="105" y="275"/>
                  </a:cubicBezTo>
                  <a:cubicBezTo>
                    <a:pt x="107" y="277"/>
                    <a:pt x="110" y="278"/>
                    <a:pt x="113" y="278"/>
                  </a:cubicBezTo>
                  <a:cubicBezTo>
                    <a:pt x="113" y="278"/>
                    <a:pt x="113" y="278"/>
                    <a:pt x="113" y="278"/>
                  </a:cubicBezTo>
                  <a:cubicBezTo>
                    <a:pt x="116" y="278"/>
                    <a:pt x="119" y="276"/>
                    <a:pt x="121" y="27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20" y="160"/>
                    <a:pt x="223" y="155"/>
                    <a:pt x="225" y="150"/>
                  </a:cubicBezTo>
                  <a:cubicBezTo>
                    <a:pt x="294" y="150"/>
                    <a:pt x="294" y="150"/>
                    <a:pt x="294" y="150"/>
                  </a:cubicBezTo>
                  <a:cubicBezTo>
                    <a:pt x="300" y="150"/>
                    <a:pt x="304" y="145"/>
                    <a:pt x="304" y="139"/>
                  </a:cubicBezTo>
                  <a:cubicBezTo>
                    <a:pt x="304" y="22"/>
                    <a:pt x="304" y="22"/>
                    <a:pt x="304" y="22"/>
                  </a:cubicBezTo>
                  <a:cubicBezTo>
                    <a:pt x="304" y="16"/>
                    <a:pt x="300" y="11"/>
                    <a:pt x="294" y="11"/>
                  </a:cubicBezTo>
                  <a:close/>
                  <a:moveTo>
                    <a:pt x="114" y="250"/>
                  </a:moveTo>
                  <a:cubicBezTo>
                    <a:pt x="112" y="246"/>
                    <a:pt x="111" y="242"/>
                    <a:pt x="112" y="238"/>
                  </a:cubicBezTo>
                  <a:cubicBezTo>
                    <a:pt x="133" y="174"/>
                    <a:pt x="133" y="174"/>
                    <a:pt x="133" y="174"/>
                  </a:cubicBezTo>
                  <a:cubicBezTo>
                    <a:pt x="133" y="174"/>
                    <a:pt x="133" y="174"/>
                    <a:pt x="133" y="174"/>
                  </a:cubicBezTo>
                  <a:cubicBezTo>
                    <a:pt x="133" y="173"/>
                    <a:pt x="134" y="172"/>
                    <a:pt x="134" y="171"/>
                  </a:cubicBezTo>
                  <a:cubicBezTo>
                    <a:pt x="134" y="165"/>
                    <a:pt x="129" y="160"/>
                    <a:pt x="123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51" y="160"/>
                    <a:pt x="28" y="137"/>
                    <a:pt x="27" y="117"/>
                  </a:cubicBezTo>
                  <a:cubicBezTo>
                    <a:pt x="27" y="116"/>
                    <a:pt x="22" y="62"/>
                    <a:pt x="46" y="36"/>
                  </a:cubicBezTo>
                  <a:cubicBezTo>
                    <a:pt x="55" y="26"/>
                    <a:pt x="66" y="22"/>
                    <a:pt x="81" y="22"/>
                  </a:cubicBezTo>
                  <a:cubicBezTo>
                    <a:pt x="177" y="22"/>
                    <a:pt x="177" y="22"/>
                    <a:pt x="177" y="22"/>
                  </a:cubicBezTo>
                  <a:cubicBezTo>
                    <a:pt x="196" y="22"/>
                    <a:pt x="208" y="34"/>
                    <a:pt x="208" y="54"/>
                  </a:cubicBezTo>
                  <a:cubicBezTo>
                    <a:pt x="208" y="128"/>
                    <a:pt x="208" y="128"/>
                    <a:pt x="208" y="128"/>
                  </a:cubicBezTo>
                  <a:cubicBezTo>
                    <a:pt x="208" y="136"/>
                    <a:pt x="205" y="144"/>
                    <a:pt x="200" y="150"/>
                  </a:cubicBezTo>
                  <a:lnTo>
                    <a:pt x="114" y="250"/>
                  </a:lnTo>
                  <a:close/>
                  <a:moveTo>
                    <a:pt x="283" y="128"/>
                  </a:moveTo>
                  <a:cubicBezTo>
                    <a:pt x="230" y="128"/>
                    <a:pt x="230" y="128"/>
                    <a:pt x="230" y="128"/>
                  </a:cubicBezTo>
                  <a:cubicBezTo>
                    <a:pt x="230" y="128"/>
                    <a:pt x="230" y="128"/>
                    <a:pt x="230" y="128"/>
                  </a:cubicBezTo>
                  <a:cubicBezTo>
                    <a:pt x="230" y="54"/>
                    <a:pt x="230" y="54"/>
                    <a:pt x="230" y="54"/>
                  </a:cubicBezTo>
                  <a:cubicBezTo>
                    <a:pt x="230" y="46"/>
                    <a:pt x="228" y="39"/>
                    <a:pt x="226" y="32"/>
                  </a:cubicBezTo>
                  <a:cubicBezTo>
                    <a:pt x="283" y="32"/>
                    <a:pt x="283" y="32"/>
                    <a:pt x="283" y="32"/>
                  </a:cubicBezTo>
                  <a:lnTo>
                    <a:pt x="283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6" name="Freeform 291">
              <a:extLst>
                <a:ext uri="{FF2B5EF4-FFF2-40B4-BE49-F238E27FC236}">
                  <a16:creationId xmlns:a16="http://schemas.microsoft.com/office/drawing/2014/main" id="{B719E2FF-0F67-85EA-A322-1556BD2E34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9" y="1137"/>
              <a:ext cx="340" cy="340"/>
            </a:xfrm>
            <a:custGeom>
              <a:avLst/>
              <a:gdLst>
                <a:gd name="T0" fmla="*/ 256 w 512"/>
                <a:gd name="T1" fmla="*/ 21 h 512"/>
                <a:gd name="T2" fmla="*/ 490 w 512"/>
                <a:gd name="T3" fmla="*/ 256 h 512"/>
                <a:gd name="T4" fmla="*/ 256 w 512"/>
                <a:gd name="T5" fmla="*/ 490 h 512"/>
                <a:gd name="T6" fmla="*/ 21 w 512"/>
                <a:gd name="T7" fmla="*/ 256 h 512"/>
                <a:gd name="T8" fmla="*/ 256 w 512"/>
                <a:gd name="T9" fmla="*/ 21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1"/>
                  </a:moveTo>
                  <a:cubicBezTo>
                    <a:pt x="385" y="21"/>
                    <a:pt x="490" y="126"/>
                    <a:pt x="490" y="256"/>
                  </a:cubicBezTo>
                  <a:cubicBezTo>
                    <a:pt x="490" y="385"/>
                    <a:pt x="385" y="490"/>
                    <a:pt x="256" y="490"/>
                  </a:cubicBezTo>
                  <a:cubicBezTo>
                    <a:pt x="126" y="490"/>
                    <a:pt x="21" y="385"/>
                    <a:pt x="21" y="256"/>
                  </a:cubicBezTo>
                  <a:cubicBezTo>
                    <a:pt x="21" y="126"/>
                    <a:pt x="126" y="21"/>
                    <a:pt x="256" y="21"/>
                  </a:cubicBezTo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sp>
        <p:nvSpPr>
          <p:cNvPr id="57" name="Freeform 267">
            <a:extLst>
              <a:ext uri="{FF2B5EF4-FFF2-40B4-BE49-F238E27FC236}">
                <a16:creationId xmlns:a16="http://schemas.microsoft.com/office/drawing/2014/main" id="{D047C183-F82A-43A2-C4E1-85FDA76A32B7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9543020" y="1682390"/>
            <a:ext cx="878360" cy="878601"/>
          </a:xfrm>
          <a:custGeom>
            <a:avLst/>
            <a:gdLst>
              <a:gd name="T0" fmla="*/ 256 w 512"/>
              <a:gd name="T1" fmla="*/ 21 h 512"/>
              <a:gd name="T2" fmla="*/ 490 w 512"/>
              <a:gd name="T3" fmla="*/ 256 h 512"/>
              <a:gd name="T4" fmla="*/ 256 w 512"/>
              <a:gd name="T5" fmla="*/ 490 h 512"/>
              <a:gd name="T6" fmla="*/ 21 w 512"/>
              <a:gd name="T7" fmla="*/ 256 h 512"/>
              <a:gd name="T8" fmla="*/ 256 w 512"/>
              <a:gd name="T9" fmla="*/ 21 h 512"/>
              <a:gd name="T10" fmla="*/ 256 w 512"/>
              <a:gd name="T11" fmla="*/ 0 h 512"/>
              <a:gd name="T12" fmla="*/ 0 w 512"/>
              <a:gd name="T13" fmla="*/ 256 h 512"/>
              <a:gd name="T14" fmla="*/ 256 w 512"/>
              <a:gd name="T15" fmla="*/ 512 h 512"/>
              <a:gd name="T16" fmla="*/ 512 w 512"/>
              <a:gd name="T17" fmla="*/ 256 h 512"/>
              <a:gd name="T18" fmla="*/ 256 w 512"/>
              <a:gd name="T19" fmla="*/ 0 h 512"/>
              <a:gd name="T20" fmla="*/ 413 w 512"/>
              <a:gd name="T21" fmla="*/ 370 h 512"/>
              <a:gd name="T22" fmla="*/ 413 w 512"/>
              <a:gd name="T23" fmla="*/ 355 h 512"/>
              <a:gd name="T24" fmla="*/ 263 w 512"/>
              <a:gd name="T25" fmla="*/ 205 h 512"/>
              <a:gd name="T26" fmla="*/ 248 w 512"/>
              <a:gd name="T27" fmla="*/ 205 h 512"/>
              <a:gd name="T28" fmla="*/ 99 w 512"/>
              <a:gd name="T29" fmla="*/ 355 h 512"/>
              <a:gd name="T30" fmla="*/ 99 w 512"/>
              <a:gd name="T31" fmla="*/ 370 h 512"/>
              <a:gd name="T32" fmla="*/ 114 w 512"/>
              <a:gd name="T33" fmla="*/ 370 h 512"/>
              <a:gd name="T34" fmla="*/ 256 w 512"/>
              <a:gd name="T35" fmla="*/ 228 h 512"/>
              <a:gd name="T36" fmla="*/ 397 w 512"/>
              <a:gd name="T37" fmla="*/ 370 h 512"/>
              <a:gd name="T38" fmla="*/ 405 w 512"/>
              <a:gd name="T39" fmla="*/ 373 h 512"/>
              <a:gd name="T40" fmla="*/ 413 w 512"/>
              <a:gd name="T41" fmla="*/ 370 h 512"/>
              <a:gd name="T42" fmla="*/ 413 w 512"/>
              <a:gd name="T43" fmla="*/ 263 h 512"/>
              <a:gd name="T44" fmla="*/ 413 w 512"/>
              <a:gd name="T45" fmla="*/ 248 h 512"/>
              <a:gd name="T46" fmla="*/ 263 w 512"/>
              <a:gd name="T47" fmla="*/ 99 h 512"/>
              <a:gd name="T48" fmla="*/ 248 w 512"/>
              <a:gd name="T49" fmla="*/ 99 h 512"/>
              <a:gd name="T50" fmla="*/ 99 w 512"/>
              <a:gd name="T51" fmla="*/ 248 h 512"/>
              <a:gd name="T52" fmla="*/ 99 w 512"/>
              <a:gd name="T53" fmla="*/ 263 h 512"/>
              <a:gd name="T54" fmla="*/ 114 w 512"/>
              <a:gd name="T55" fmla="*/ 263 h 512"/>
              <a:gd name="T56" fmla="*/ 256 w 512"/>
              <a:gd name="T57" fmla="*/ 121 h 512"/>
              <a:gd name="T58" fmla="*/ 397 w 512"/>
              <a:gd name="T59" fmla="*/ 263 h 512"/>
              <a:gd name="T60" fmla="*/ 405 w 512"/>
              <a:gd name="T61" fmla="*/ 266 h 512"/>
              <a:gd name="T62" fmla="*/ 413 w 512"/>
              <a:gd name="T63" fmla="*/ 263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512" h="512">
                <a:moveTo>
                  <a:pt x="256" y="21"/>
                </a:moveTo>
                <a:cubicBezTo>
                  <a:pt x="385" y="21"/>
                  <a:pt x="490" y="126"/>
                  <a:pt x="490" y="256"/>
                </a:cubicBezTo>
                <a:cubicBezTo>
                  <a:pt x="490" y="385"/>
                  <a:pt x="385" y="490"/>
                  <a:pt x="256" y="490"/>
                </a:cubicBezTo>
                <a:cubicBezTo>
                  <a:pt x="126" y="490"/>
                  <a:pt x="21" y="385"/>
                  <a:pt x="21" y="256"/>
                </a:cubicBezTo>
                <a:cubicBezTo>
                  <a:pt x="21" y="126"/>
                  <a:pt x="126" y="21"/>
                  <a:pt x="256" y="21"/>
                </a:cubicBezTo>
                <a:moveTo>
                  <a:pt x="256" y="0"/>
                </a:moveTo>
                <a:cubicBezTo>
                  <a:pt x="114" y="0"/>
                  <a:pt x="0" y="114"/>
                  <a:pt x="0" y="256"/>
                </a:cubicBezTo>
                <a:cubicBezTo>
                  <a:pt x="0" y="397"/>
                  <a:pt x="114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4"/>
                  <a:pt x="397" y="0"/>
                  <a:pt x="256" y="0"/>
                </a:cubicBezTo>
                <a:close/>
                <a:moveTo>
                  <a:pt x="413" y="370"/>
                </a:moveTo>
                <a:cubicBezTo>
                  <a:pt x="417" y="366"/>
                  <a:pt x="417" y="359"/>
                  <a:pt x="413" y="355"/>
                </a:cubicBezTo>
                <a:cubicBezTo>
                  <a:pt x="263" y="205"/>
                  <a:pt x="263" y="205"/>
                  <a:pt x="263" y="205"/>
                </a:cubicBezTo>
                <a:cubicBezTo>
                  <a:pt x="259" y="201"/>
                  <a:pt x="252" y="201"/>
                  <a:pt x="248" y="205"/>
                </a:cubicBezTo>
                <a:cubicBezTo>
                  <a:pt x="99" y="355"/>
                  <a:pt x="99" y="355"/>
                  <a:pt x="99" y="355"/>
                </a:cubicBezTo>
                <a:cubicBezTo>
                  <a:pt x="95" y="359"/>
                  <a:pt x="95" y="366"/>
                  <a:pt x="99" y="370"/>
                </a:cubicBezTo>
                <a:cubicBezTo>
                  <a:pt x="103" y="374"/>
                  <a:pt x="110" y="374"/>
                  <a:pt x="114" y="370"/>
                </a:cubicBezTo>
                <a:cubicBezTo>
                  <a:pt x="256" y="228"/>
                  <a:pt x="256" y="228"/>
                  <a:pt x="256" y="228"/>
                </a:cubicBezTo>
                <a:cubicBezTo>
                  <a:pt x="397" y="370"/>
                  <a:pt x="397" y="370"/>
                  <a:pt x="397" y="370"/>
                </a:cubicBezTo>
                <a:cubicBezTo>
                  <a:pt x="400" y="372"/>
                  <a:pt x="402" y="373"/>
                  <a:pt x="405" y="373"/>
                </a:cubicBezTo>
                <a:cubicBezTo>
                  <a:pt x="408" y="373"/>
                  <a:pt x="410" y="372"/>
                  <a:pt x="413" y="370"/>
                </a:cubicBezTo>
                <a:close/>
                <a:moveTo>
                  <a:pt x="413" y="263"/>
                </a:moveTo>
                <a:cubicBezTo>
                  <a:pt x="417" y="259"/>
                  <a:pt x="417" y="252"/>
                  <a:pt x="413" y="248"/>
                </a:cubicBezTo>
                <a:cubicBezTo>
                  <a:pt x="263" y="99"/>
                  <a:pt x="263" y="99"/>
                  <a:pt x="263" y="99"/>
                </a:cubicBezTo>
                <a:cubicBezTo>
                  <a:pt x="259" y="95"/>
                  <a:pt x="252" y="95"/>
                  <a:pt x="248" y="99"/>
                </a:cubicBezTo>
                <a:cubicBezTo>
                  <a:pt x="99" y="248"/>
                  <a:pt x="99" y="248"/>
                  <a:pt x="99" y="248"/>
                </a:cubicBezTo>
                <a:cubicBezTo>
                  <a:pt x="95" y="252"/>
                  <a:pt x="95" y="259"/>
                  <a:pt x="99" y="263"/>
                </a:cubicBezTo>
                <a:cubicBezTo>
                  <a:pt x="103" y="267"/>
                  <a:pt x="110" y="267"/>
                  <a:pt x="114" y="263"/>
                </a:cubicBezTo>
                <a:cubicBezTo>
                  <a:pt x="256" y="121"/>
                  <a:pt x="256" y="121"/>
                  <a:pt x="256" y="121"/>
                </a:cubicBezTo>
                <a:cubicBezTo>
                  <a:pt x="397" y="263"/>
                  <a:pt x="397" y="263"/>
                  <a:pt x="397" y="263"/>
                </a:cubicBezTo>
                <a:cubicBezTo>
                  <a:pt x="400" y="265"/>
                  <a:pt x="402" y="266"/>
                  <a:pt x="405" y="266"/>
                </a:cubicBezTo>
                <a:cubicBezTo>
                  <a:pt x="408" y="266"/>
                  <a:pt x="410" y="265"/>
                  <a:pt x="413" y="26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73734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>
        <p:push dir="u"/>
      </p:transition>
    </mc:Choice>
    <mc:Fallback>
      <p:transition spd="slow" advClick="0" advTm="100">
        <p:push dir="u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A6691-71DF-6530-CA58-D2EB5E476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0B07F-5B5B-554D-6975-52734CFDB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Metals &amp; Plastics in Interiors</a:t>
            </a:r>
          </a:p>
        </p:txBody>
      </p:sp>
      <p:sp>
        <p:nvSpPr>
          <p:cNvPr id="32" name="Content Placeholder 1">
            <a:extLst>
              <a:ext uri="{FF2B5EF4-FFF2-40B4-BE49-F238E27FC236}">
                <a16:creationId xmlns:a16="http://schemas.microsoft.com/office/drawing/2014/main" id="{98EAF53F-BF5E-1D6D-88B1-43E3F150D7B0}"/>
              </a:ext>
            </a:extLst>
          </p:cNvPr>
          <p:cNvSpPr txBox="1">
            <a:spLocks/>
          </p:cNvSpPr>
          <p:nvPr/>
        </p:nvSpPr>
        <p:spPr>
          <a:xfrm>
            <a:off x="810874" y="1665289"/>
            <a:ext cx="4950165" cy="3527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rtl="0">
              <a:buNone/>
            </a:pPr>
            <a:r>
              <a:rPr lang="en-US" sz="1600" b="1" i="0" u="none" strike="noStrike" baseline="0" dirty="0">
                <a:latin typeface="Times New Roman" panose="02020603050405020304" pitchFamily="18" charset="0"/>
              </a:rPr>
              <a:t>Metals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54587" y="2104320"/>
            <a:ext cx="3542167" cy="10772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100" b="1" dirty="0">
                <a:solidFill>
                  <a:schemeClr val="accent3"/>
                </a:solidFill>
              </a:rPr>
              <a:t>Common Metals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Steel – structure, reinforcement, stairs, furniture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/>
              <a:t>Aluminium</a:t>
            </a:r>
            <a:r>
              <a:rPr lang="en-US" sz="1100" dirty="0"/>
              <a:t> – lightweight windows, partitions, frames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Copper – wiring, roofing, decor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Brass &amp; bronze – decorative railings, hardware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Iron – grills, gates, railings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sp>
        <p:nvSpPr>
          <p:cNvPr id="4" name="TextBox 3"/>
          <p:cNvSpPr txBox="1"/>
          <p:nvPr/>
        </p:nvSpPr>
        <p:spPr>
          <a:xfrm>
            <a:off x="86065" y="3465246"/>
            <a:ext cx="2153518" cy="7694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  <a:buSzPct val="100000"/>
            </a:pPr>
            <a:r>
              <a:rPr lang="en-GB" sz="5000" dirty="0">
                <a:solidFill>
                  <a:schemeClr val="accent2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65" y="2197741"/>
            <a:ext cx="2153518" cy="7694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  <a:buSzPct val="100000"/>
            </a:pPr>
            <a:r>
              <a:rPr lang="en-GB" sz="5000" dirty="0">
                <a:solidFill>
                  <a:schemeClr val="accent3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16" y="2242863"/>
            <a:ext cx="2067584" cy="9596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100" b="1" dirty="0">
                <a:solidFill>
                  <a:schemeClr val="tx2"/>
                </a:solidFill>
              </a:rPr>
              <a:t>Types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Thermoplastics – PVC, acrylic, polycarbonate (re-mouldable)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Thermosets – </a:t>
            </a:r>
            <a:r>
              <a:rPr lang="en-GB" sz="1100" dirty="0" err="1"/>
              <a:t>bakelite</a:t>
            </a:r>
            <a:r>
              <a:rPr lang="en-GB" sz="1100" dirty="0"/>
              <a:t>, laminates (non-</a:t>
            </a:r>
            <a:r>
              <a:rPr lang="en-GB" sz="1100" dirty="0" err="1"/>
              <a:t>remouldable</a:t>
            </a:r>
            <a:r>
              <a:rPr lang="en-GB" sz="1100" dirty="0"/>
              <a:t>)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84280" y="2197741"/>
            <a:ext cx="2153518" cy="7694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  <a:buSzPct val="100000"/>
            </a:pPr>
            <a:r>
              <a:rPr lang="en-GB" sz="5000" dirty="0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065" y="4862976"/>
            <a:ext cx="2153518" cy="7694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  <a:buSzPct val="100000"/>
            </a:pPr>
            <a:r>
              <a:rPr lang="en-GB" sz="5000" dirty="0">
                <a:solidFill>
                  <a:schemeClr val="accent1"/>
                </a:solidFill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4280" y="3465246"/>
            <a:ext cx="2153518" cy="7694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  <a:buSzPct val="100000"/>
            </a:pPr>
            <a:r>
              <a:rPr lang="en-GB" sz="5000" dirty="0">
                <a:solidFill>
                  <a:schemeClr val="accent5"/>
                </a:solidFill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4280" y="4862976"/>
            <a:ext cx="2153518" cy="7694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  <a:buSzPct val="100000"/>
            </a:pPr>
            <a:r>
              <a:rPr lang="en-GB" sz="5000" dirty="0">
                <a:solidFill>
                  <a:schemeClr val="accent3"/>
                </a:solidFill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54587" y="3550472"/>
            <a:ext cx="3542167" cy="76944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100" b="1" dirty="0">
                <a:solidFill>
                  <a:schemeClr val="accent2"/>
                </a:solidFill>
              </a:rPr>
              <a:t>Pros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High tensile strength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Ductile, malleable, recyclable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Sleek, modern appearance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16" y="3413406"/>
            <a:ext cx="3896384" cy="10772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100" b="1" dirty="0">
                <a:solidFill>
                  <a:schemeClr val="accent5"/>
                </a:solidFill>
              </a:rPr>
              <a:t>Pros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Lightweight, easy to transport and install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Waterproof, termite-proof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Wide range of colors, textures, finishes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Generally cost-effective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4587" y="4862976"/>
            <a:ext cx="3542167" cy="8144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100" b="1" dirty="0">
                <a:solidFill>
                  <a:schemeClr val="accent1"/>
                </a:solidFill>
              </a:rPr>
              <a:t>Cons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Corrosion (iron, steel need paint/coating)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Expensive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High thermal conductivity (feels hot/cold)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16" y="4817977"/>
            <a:ext cx="3896384" cy="10772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100" b="1" dirty="0">
                <a:solidFill>
                  <a:schemeClr val="accent3"/>
                </a:solidFill>
              </a:rPr>
              <a:t>Cons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Not eco-friendly (mostly non-biodegradable)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Lower strength than metals/concrete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Softens or deforms at high temperatures </a:t>
            </a:r>
          </a:p>
        </p:txBody>
      </p:sp>
      <p:sp>
        <p:nvSpPr>
          <p:cNvPr id="18" name="Content Placeholder 1">
            <a:extLst>
              <a:ext uri="{FF2B5EF4-FFF2-40B4-BE49-F238E27FC236}">
                <a16:creationId xmlns:a16="http://schemas.microsoft.com/office/drawing/2014/main" id="{E41604BB-3B92-E924-A8FC-8D4B741D8225}"/>
              </a:ext>
            </a:extLst>
          </p:cNvPr>
          <p:cNvSpPr txBox="1">
            <a:spLocks/>
          </p:cNvSpPr>
          <p:nvPr/>
        </p:nvSpPr>
        <p:spPr>
          <a:xfrm>
            <a:off x="5327455" y="1665289"/>
            <a:ext cx="4950165" cy="3527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rtl="0">
              <a:buNone/>
            </a:pPr>
            <a:r>
              <a:rPr lang="en-US" sz="1600" b="1" i="0" u="none" strike="noStrike" baseline="0" dirty="0">
                <a:latin typeface="Times New Roman" panose="02020603050405020304" pitchFamily="18" charset="0"/>
              </a:rPr>
              <a:t>Plastics</a:t>
            </a:r>
          </a:p>
        </p:txBody>
      </p:sp>
      <p:sp>
        <p:nvSpPr>
          <p:cNvPr id="20" name="Slide Number Placeholder 43">
            <a:extLst>
              <a:ext uri="{FF2B5EF4-FFF2-40B4-BE49-F238E27FC236}">
                <a16:creationId xmlns:a16="http://schemas.microsoft.com/office/drawing/2014/main" id="{F9FD4307-78AC-240A-D0D5-494BB4604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2B39849-C024-4E78-B92E-190B74CFFC73}" type="slidenum">
              <a:rPr lang="en-US" sz="1000" smtClean="0"/>
              <a:t>7</a:t>
            </a:fld>
            <a:endParaRPr lang="en-US" sz="10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9060397-4F0F-846A-2493-98729C5F1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9490" y="12966"/>
            <a:ext cx="3409554" cy="2242863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Oval 23">
            <a:extLst>
              <a:ext uri="{FF2B5EF4-FFF2-40B4-BE49-F238E27FC236}">
                <a16:creationId xmlns:a16="http://schemas.microsoft.com/office/drawing/2014/main" id="{DDACEE83-3867-6B50-004A-B63212FE073F}"/>
              </a:ext>
            </a:extLst>
          </p:cNvPr>
          <p:cNvSpPr/>
          <p:nvPr/>
        </p:nvSpPr>
        <p:spPr>
          <a:xfrm>
            <a:off x="9050763" y="2373999"/>
            <a:ext cx="1232208" cy="1078662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AC83BE8-2DF4-9457-7BB4-A89EE5FC3532}"/>
              </a:ext>
            </a:extLst>
          </p:cNvPr>
          <p:cNvSpPr/>
          <p:nvPr/>
        </p:nvSpPr>
        <p:spPr>
          <a:xfrm>
            <a:off x="9167353" y="5037989"/>
            <a:ext cx="1232208" cy="1078662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F7478F4-1F82-7926-26C7-9A9ABB03DCF4}"/>
              </a:ext>
            </a:extLst>
          </p:cNvPr>
          <p:cNvSpPr/>
          <p:nvPr/>
        </p:nvSpPr>
        <p:spPr>
          <a:xfrm>
            <a:off x="9059834" y="3550472"/>
            <a:ext cx="1232208" cy="1078662"/>
          </a:xfrm>
          <a:prstGeom prst="ellipse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7E6215D-0DD2-6041-199A-DED2F3C79EC3}"/>
              </a:ext>
            </a:extLst>
          </p:cNvPr>
          <p:cNvSpPr/>
          <p:nvPr/>
        </p:nvSpPr>
        <p:spPr>
          <a:xfrm>
            <a:off x="10806969" y="3565537"/>
            <a:ext cx="1232208" cy="1078662"/>
          </a:xfrm>
          <a:prstGeom prst="ellipse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A7574C5-1683-3D59-7594-629EF4389A94}"/>
              </a:ext>
            </a:extLst>
          </p:cNvPr>
          <p:cNvSpPr/>
          <p:nvPr/>
        </p:nvSpPr>
        <p:spPr>
          <a:xfrm>
            <a:off x="10829844" y="5070183"/>
            <a:ext cx="1232208" cy="1078662"/>
          </a:xfrm>
          <a:prstGeom prst="ellipse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691F377-CB5C-858F-ED2B-831DB27927EA}"/>
              </a:ext>
            </a:extLst>
          </p:cNvPr>
          <p:cNvSpPr/>
          <p:nvPr/>
        </p:nvSpPr>
        <p:spPr>
          <a:xfrm>
            <a:off x="10610758" y="2325680"/>
            <a:ext cx="1232208" cy="1078662"/>
          </a:xfrm>
          <a:prstGeom prst="ellipse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4901297-F753-9AE8-83BF-CC780BA24D03}"/>
              </a:ext>
            </a:extLst>
          </p:cNvPr>
          <p:cNvSpPr txBox="1"/>
          <p:nvPr/>
        </p:nvSpPr>
        <p:spPr>
          <a:xfrm>
            <a:off x="10160001" y="3170063"/>
            <a:ext cx="6161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00" b="1" dirty="0"/>
              <a:t>PVC</a:t>
            </a:r>
            <a:endParaRPr lang="en-US" sz="10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B3CC0F2-6DBA-DC9F-27A6-D4473ACC5D25}"/>
              </a:ext>
            </a:extLst>
          </p:cNvPr>
          <p:cNvSpPr txBox="1"/>
          <p:nvPr/>
        </p:nvSpPr>
        <p:spPr>
          <a:xfrm>
            <a:off x="11123232" y="4658422"/>
            <a:ext cx="71973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00" b="1" dirty="0"/>
              <a:t>Bakelite</a:t>
            </a:r>
            <a:endParaRPr lang="en-US" sz="10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044DB33-B04B-321F-46D7-F8D674896260}"/>
              </a:ext>
            </a:extLst>
          </p:cNvPr>
          <p:cNvSpPr txBox="1"/>
          <p:nvPr/>
        </p:nvSpPr>
        <p:spPr>
          <a:xfrm>
            <a:off x="9050763" y="4643357"/>
            <a:ext cx="134879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00" b="1" dirty="0"/>
              <a:t>Polycarbonate</a:t>
            </a:r>
            <a:endParaRPr lang="en-US" sz="10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55A7985-E88D-EC60-1DB8-0E6227CC8AD6}"/>
              </a:ext>
            </a:extLst>
          </p:cNvPr>
          <p:cNvSpPr txBox="1"/>
          <p:nvPr/>
        </p:nvSpPr>
        <p:spPr>
          <a:xfrm>
            <a:off x="9105469" y="6148845"/>
            <a:ext cx="134879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00" b="1" dirty="0"/>
              <a:t>Acrylic</a:t>
            </a:r>
            <a:endParaRPr lang="en-US" sz="10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2038049-2C3F-7789-4330-F34EF78A6E80}"/>
              </a:ext>
            </a:extLst>
          </p:cNvPr>
          <p:cNvSpPr txBox="1"/>
          <p:nvPr/>
        </p:nvSpPr>
        <p:spPr>
          <a:xfrm>
            <a:off x="10758778" y="6111552"/>
            <a:ext cx="134879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00" b="1" dirty="0"/>
              <a:t>Laminates</a:t>
            </a:r>
            <a:endParaRPr 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42078097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>
        <p:push dir="u"/>
      </p:transition>
    </mc:Choice>
    <mc:Fallback>
      <p:transition spd="slow" advClick="0" advTm="100">
        <p:push dir="u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1942C-34FB-877A-3D40-3434D4CB7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7B53C-A008-345F-8E7C-F83B66498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Wood &amp; Timber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65D418-6A5D-83C2-5DC3-2C4B74F104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UNIT - 2 </a:t>
            </a:r>
          </a:p>
        </p:txBody>
      </p:sp>
      <p:sp>
        <p:nvSpPr>
          <p:cNvPr id="5" name="Slide Number Placeholder 43">
            <a:extLst>
              <a:ext uri="{FF2B5EF4-FFF2-40B4-BE49-F238E27FC236}">
                <a16:creationId xmlns:a16="http://schemas.microsoft.com/office/drawing/2014/main" id="{118C2D7A-013E-8EB9-2973-70D77F80C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2B39849-C024-4E78-B92E-190B74CFFC73}" type="slidenum">
              <a:rPr lang="en-US" sz="1000" smtClean="0"/>
              <a:t>8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7239298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>
        <p:push dir="u"/>
      </p:transition>
    </mc:Choice>
    <mc:Fallback>
      <p:transition spd="slow" advClick="0" advTm="100">
        <p:push dir="u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4AB5315-02A3-365C-F836-71A540935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Manufactured Wood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607EB4D-C53F-FDA3-2EDD-C98BA49A6408}"/>
              </a:ext>
            </a:extLst>
          </p:cNvPr>
          <p:cNvGrpSpPr/>
          <p:nvPr/>
        </p:nvGrpSpPr>
        <p:grpSpPr>
          <a:xfrm>
            <a:off x="381960" y="1705378"/>
            <a:ext cx="9002185" cy="4413527"/>
            <a:chOff x="381960" y="1705378"/>
            <a:chExt cx="11080367" cy="4413527"/>
          </a:xfrm>
        </p:grpSpPr>
        <p:sp>
          <p:nvSpPr>
            <p:cNvPr id="9" name="Text Placeholder 8">
              <a:extLst>
                <a:ext uri="{FF2B5EF4-FFF2-40B4-BE49-F238E27FC236}">
                  <a16:creationId xmlns:a16="http://schemas.microsoft.com/office/drawing/2014/main" id="{507B7305-FC59-AD13-C444-D80015B7C9C7}"/>
                </a:ext>
              </a:extLst>
            </p:cNvPr>
            <p:cNvSpPr txBox="1">
              <a:spLocks/>
            </p:cNvSpPr>
            <p:nvPr/>
          </p:nvSpPr>
          <p:spPr>
            <a:xfrm>
              <a:off x="381960" y="1902384"/>
              <a:ext cx="11080367" cy="25506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lang="en-US" sz="28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2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2000" b="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800" b="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800" b="0" kern="120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FontTx/>
                <a:buChar char="•"/>
                <a:tabLst>
                  <a:tab pos="5029200" algn="r"/>
                </a:tabLst>
              </a:pPr>
              <a:r>
                <a:rPr lang="en-US" sz="1400" b="1" dirty="0"/>
                <a:t>	Manufactured (Industrial) Wood</a:t>
              </a:r>
              <a:r>
                <a:rPr lang="en-US" sz="1400" dirty="0"/>
                <a:t> is a wide range of composite wood products used in construction and furniture.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0633A82-FFD4-7C02-31F6-80C2E376DF72}"/>
                </a:ext>
              </a:extLst>
            </p:cNvPr>
            <p:cNvSpPr/>
            <p:nvPr/>
          </p:nvSpPr>
          <p:spPr>
            <a:xfrm>
              <a:off x="381960" y="1705378"/>
              <a:ext cx="11080367" cy="6851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>
                <a:spcAft>
                  <a:spcPts val="1000"/>
                </a:spcAft>
              </a:pPr>
              <a:endParaRPr lang="en-US" sz="1100" noProof="0" dirty="0">
                <a:solidFill>
                  <a:schemeClr val="bg1"/>
                </a:solidFill>
              </a:endParaRP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C8289A58-51DD-902E-4ED7-CCF00737A554}"/>
                </a:ext>
              </a:extLst>
            </p:cNvPr>
            <p:cNvGrpSpPr/>
            <p:nvPr/>
          </p:nvGrpSpPr>
          <p:grpSpPr>
            <a:xfrm>
              <a:off x="381960" y="2695743"/>
              <a:ext cx="11080367" cy="452068"/>
              <a:chOff x="381960" y="2342687"/>
              <a:chExt cx="11080367" cy="452068"/>
            </a:xfrm>
          </p:grpSpPr>
          <p:sp>
            <p:nvSpPr>
              <p:cNvPr id="23" name="Text Placeholder 8">
                <a:extLst>
                  <a:ext uri="{FF2B5EF4-FFF2-40B4-BE49-F238E27FC236}">
                    <a16:creationId xmlns:a16="http://schemas.microsoft.com/office/drawing/2014/main" id="{4E596540-323B-C0C9-3161-EEBE8F2D260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1960" y="2539693"/>
                <a:ext cx="11080367" cy="255062"/>
              </a:xfrm>
              <a:prstGeom prst="rect">
                <a:avLst/>
              </a:prstGeom>
            </p:spPr>
            <p:txBody>
              <a:bodyPr vert="horz" lIns="0" tIns="0" rIns="0" bIns="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lang="en-US" sz="280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en-US" sz="240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en-US" sz="2000" b="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en-US" sz="1800" b="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en-US" sz="1800" b="0" kern="1200" noProof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Tx/>
                  <a:buChar char="•"/>
                  <a:tabLst>
                    <a:tab pos="5029200" algn="r"/>
                  </a:tabLst>
                </a:pPr>
                <a:r>
                  <a:rPr lang="en-US" sz="1400" dirty="0"/>
                  <a:t>Made by pressing </a:t>
                </a:r>
                <a:r>
                  <a:rPr lang="en-US" sz="1400" b="1" dirty="0"/>
                  <a:t>wood fibers, chips, strands or veneers</a:t>
                </a:r>
                <a:r>
                  <a:rPr lang="en-US" sz="1400" dirty="0"/>
                  <a:t> together with </a:t>
                </a:r>
                <a:r>
                  <a:rPr lang="en-US" sz="1400" b="1" dirty="0"/>
                  <a:t>adhesives</a:t>
                </a:r>
                <a:r>
                  <a:rPr lang="en-US" sz="1400" dirty="0"/>
                  <a:t> under heat and pressure.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5A464EF-8075-9D12-94E3-542135F9C11A}"/>
                  </a:ext>
                </a:extLst>
              </p:cNvPr>
              <p:cNvSpPr/>
              <p:nvPr/>
            </p:nvSpPr>
            <p:spPr>
              <a:xfrm>
                <a:off x="381960" y="2342687"/>
                <a:ext cx="11080367" cy="6851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>
                  <a:spcAft>
                    <a:spcPts val="1000"/>
                  </a:spcAft>
                </a:pPr>
                <a:endParaRPr lang="en-US" sz="1100" noProof="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6C819BE-A34F-52C1-775D-193046B52788}"/>
                </a:ext>
              </a:extLst>
            </p:cNvPr>
            <p:cNvGrpSpPr/>
            <p:nvPr/>
          </p:nvGrpSpPr>
          <p:grpSpPr>
            <a:xfrm>
              <a:off x="381960" y="3686108"/>
              <a:ext cx="11080367" cy="452068"/>
              <a:chOff x="381960" y="3007706"/>
              <a:chExt cx="11080367" cy="452068"/>
            </a:xfrm>
          </p:grpSpPr>
          <p:sp>
            <p:nvSpPr>
              <p:cNvPr id="27" name="Text Placeholder 8">
                <a:extLst>
                  <a:ext uri="{FF2B5EF4-FFF2-40B4-BE49-F238E27FC236}">
                    <a16:creationId xmlns:a16="http://schemas.microsoft.com/office/drawing/2014/main" id="{957165AA-2972-8E6D-6AB7-E97772B8479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1960" y="3204712"/>
                <a:ext cx="11080367" cy="255062"/>
              </a:xfrm>
              <a:prstGeom prst="rect">
                <a:avLst/>
              </a:prstGeom>
            </p:spPr>
            <p:txBody>
              <a:bodyPr vert="horz" lIns="0" tIns="0" rIns="0" bIns="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lang="en-US" sz="280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en-US" sz="240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en-US" sz="2000" b="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en-US" sz="1800" b="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en-US" sz="1800" b="0" kern="1200" noProof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Tx/>
                  <a:buChar char="•"/>
                  <a:tabLst>
                    <a:tab pos="5029200" algn="r"/>
                  </a:tabLst>
                </a:pPr>
                <a:r>
                  <a:rPr lang="en-US" sz="1400" dirty="0"/>
                  <a:t>	Common types: </a:t>
                </a:r>
                <a:r>
                  <a:rPr lang="en-US" sz="1400" b="1" dirty="0"/>
                  <a:t>plywood, blockboard, fiberboard (MDF, LDF, HDF), OSB, veneer, laminated wood.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239DD85-7A23-C4FC-DF67-68F5B088658A}"/>
                  </a:ext>
                </a:extLst>
              </p:cNvPr>
              <p:cNvSpPr/>
              <p:nvPr/>
            </p:nvSpPr>
            <p:spPr>
              <a:xfrm>
                <a:off x="381960" y="3007706"/>
                <a:ext cx="11080367" cy="6851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>
                  <a:spcAft>
                    <a:spcPts val="1000"/>
                  </a:spcAft>
                </a:pPr>
                <a:endParaRPr lang="en-US" sz="1100" noProof="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1C2C95F2-6147-8BD1-70B4-5CBF6C41ECAF}"/>
                </a:ext>
              </a:extLst>
            </p:cNvPr>
            <p:cNvGrpSpPr/>
            <p:nvPr/>
          </p:nvGrpSpPr>
          <p:grpSpPr>
            <a:xfrm>
              <a:off x="381960" y="4676473"/>
              <a:ext cx="11080367" cy="452068"/>
              <a:chOff x="381960" y="3755852"/>
              <a:chExt cx="11080367" cy="452068"/>
            </a:xfrm>
          </p:grpSpPr>
          <p:sp>
            <p:nvSpPr>
              <p:cNvPr id="29" name="Text Placeholder 8">
                <a:extLst>
                  <a:ext uri="{FF2B5EF4-FFF2-40B4-BE49-F238E27FC236}">
                    <a16:creationId xmlns:a16="http://schemas.microsoft.com/office/drawing/2014/main" id="{93564259-2CD4-0D92-FC49-70A6CBD830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1960" y="3952858"/>
                <a:ext cx="11080367" cy="255062"/>
              </a:xfrm>
              <a:prstGeom prst="rect">
                <a:avLst/>
              </a:prstGeom>
            </p:spPr>
            <p:txBody>
              <a:bodyPr vert="horz" lIns="0" tIns="0" rIns="0" bIns="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lang="en-US" sz="280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en-US" sz="240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en-US" sz="2000" b="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en-US" sz="1800" b="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en-US" sz="1800" b="0" kern="1200" noProof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Tx/>
                  <a:buChar char="•"/>
                  <a:tabLst>
                    <a:tab pos="5029200" algn="r"/>
                  </a:tabLst>
                </a:pPr>
                <a:r>
                  <a:rPr lang="en-US" sz="1400" dirty="0"/>
                  <a:t>Aim: create materials with </a:t>
                </a:r>
                <a:r>
                  <a:rPr lang="en-US" sz="1400" b="1" dirty="0"/>
                  <a:t>more uniform, stable and sometimes stronger properties</a:t>
                </a:r>
                <a:r>
                  <a:rPr lang="en-US" sz="1400" dirty="0"/>
                  <a:t> than natural solid wood.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80ECC984-B50B-6DB0-8A2E-4777D8A77AA5}"/>
                  </a:ext>
                </a:extLst>
              </p:cNvPr>
              <p:cNvSpPr/>
              <p:nvPr/>
            </p:nvSpPr>
            <p:spPr>
              <a:xfrm>
                <a:off x="381960" y="3755852"/>
                <a:ext cx="11080367" cy="6851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>
                  <a:spcAft>
                    <a:spcPts val="1000"/>
                  </a:spcAft>
                </a:pPr>
                <a:endParaRPr lang="en-US" sz="1100" noProof="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EC55BE9-22E1-42ED-8145-FB3D04AD63AF}"/>
                </a:ext>
              </a:extLst>
            </p:cNvPr>
            <p:cNvGrpSpPr/>
            <p:nvPr/>
          </p:nvGrpSpPr>
          <p:grpSpPr>
            <a:xfrm>
              <a:off x="381960" y="5666837"/>
              <a:ext cx="11080367" cy="452068"/>
              <a:chOff x="381960" y="4402397"/>
              <a:chExt cx="11080367" cy="452068"/>
            </a:xfrm>
          </p:grpSpPr>
          <p:sp>
            <p:nvSpPr>
              <p:cNvPr id="31" name="Text Placeholder 8">
                <a:extLst>
                  <a:ext uri="{FF2B5EF4-FFF2-40B4-BE49-F238E27FC236}">
                    <a16:creationId xmlns:a16="http://schemas.microsoft.com/office/drawing/2014/main" id="{26ABD269-FB59-6FCB-B1C0-AEF95731998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1960" y="4599403"/>
                <a:ext cx="11080367" cy="255062"/>
              </a:xfrm>
              <a:prstGeom prst="rect">
                <a:avLst/>
              </a:prstGeom>
            </p:spPr>
            <p:txBody>
              <a:bodyPr vert="horz" lIns="0" tIns="0" rIns="0" bIns="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lang="en-US" sz="280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en-US" sz="240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en-US" sz="2000" b="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en-US" sz="1800" b="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en-US" sz="1800" b="0" kern="1200" noProof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Tx/>
                  <a:buChar char="•"/>
                  <a:tabLst>
                    <a:tab pos="5029200" algn="r"/>
                  </a:tabLst>
                </a:pPr>
                <a:r>
                  <a:rPr lang="en-US" sz="1400" dirty="0"/>
                  <a:t>Produced in many forms and sizes depending on </a:t>
                </a:r>
                <a:r>
                  <a:rPr lang="en-US" sz="1400" b="1" dirty="0"/>
                  <a:t>components used</a:t>
                </a:r>
                <a:r>
                  <a:rPr lang="en-US" sz="1400" dirty="0"/>
                  <a:t> and the </a:t>
                </a:r>
                <a:r>
                  <a:rPr lang="en-US" sz="1400" b="1" dirty="0"/>
                  <a:t>intended application</a:t>
                </a:r>
                <a:r>
                  <a:rPr lang="en-US" sz="1400" dirty="0"/>
                  <a:t>.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3775D0E-29F1-68AE-DBC0-FE32250E4411}"/>
                  </a:ext>
                </a:extLst>
              </p:cNvPr>
              <p:cNvSpPr/>
              <p:nvPr/>
            </p:nvSpPr>
            <p:spPr>
              <a:xfrm>
                <a:off x="381960" y="4402397"/>
                <a:ext cx="11080367" cy="6851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>
                  <a:spcAft>
                    <a:spcPts val="1000"/>
                  </a:spcAft>
                </a:pPr>
                <a:endParaRPr lang="en-US" sz="1100" noProof="0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48EEDD21-8FCD-A9E2-4393-0C28BE0476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9" name="Slide Number Placeholder 43">
            <a:extLst>
              <a:ext uri="{FF2B5EF4-FFF2-40B4-BE49-F238E27FC236}">
                <a16:creationId xmlns:a16="http://schemas.microsoft.com/office/drawing/2014/main" id="{94BA10AB-176A-76D2-8C6C-2679433AD1A6}"/>
              </a:ext>
            </a:extLst>
          </p:cNvPr>
          <p:cNvSpPr txBox="1">
            <a:spLocks/>
          </p:cNvSpPr>
          <p:nvPr/>
        </p:nvSpPr>
        <p:spPr>
          <a:xfrm>
            <a:off x="8610600" y="649287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2B39849-C024-4E78-B92E-190B74CFFC73}" type="slidenum">
              <a:rPr lang="en-US" sz="1000" smtClean="0"/>
              <a:pPr algn="r"/>
              <a:t>9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333690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>
        <p:push dir="u"/>
      </p:transition>
    </mc:Choice>
    <mc:Fallback>
      <p:transition spd="slow" advClick="0" advTm="100">
        <p:push dir="u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13341B-5378-6C99-3533-E4AE70ECB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FBB71FE-CC8E-D076-EA38-560A23FF7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Plywood &amp; Blockboard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CB4AA76-83A4-935A-D6AB-09585C3A0FC4}"/>
              </a:ext>
            </a:extLst>
          </p:cNvPr>
          <p:cNvSpPr txBox="1">
            <a:spLocks/>
          </p:cNvSpPr>
          <p:nvPr/>
        </p:nvSpPr>
        <p:spPr>
          <a:xfrm>
            <a:off x="381960" y="1902384"/>
            <a:ext cx="9002185" cy="206925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000" b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b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b="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5029200" algn="r"/>
              </a:tabLst>
            </a:pPr>
            <a:r>
              <a:rPr lang="en-US" sz="1400" b="1" dirty="0"/>
              <a:t>Plywood</a:t>
            </a:r>
          </a:p>
          <a:p>
            <a:pPr>
              <a:buFontTx/>
              <a:buChar char="•"/>
              <a:tabLst>
                <a:tab pos="5029200" algn="r"/>
              </a:tabLst>
            </a:pPr>
            <a:r>
              <a:rPr lang="en-US" sz="1400" dirty="0"/>
              <a:t>Built from </a:t>
            </a:r>
            <a:r>
              <a:rPr lang="en-US" sz="1400" b="1" dirty="0"/>
              <a:t>thin wood veneers </a:t>
            </a:r>
            <a:r>
              <a:rPr lang="en-US" sz="1400" dirty="0"/>
              <a:t>glued in cross layers to form strong panels.</a:t>
            </a:r>
          </a:p>
          <a:p>
            <a:pPr>
              <a:buFontTx/>
              <a:buChar char="•"/>
              <a:tabLst>
                <a:tab pos="5029200" algn="r"/>
              </a:tabLst>
            </a:pPr>
            <a:r>
              <a:rPr lang="en-US" sz="1400" dirty="0"/>
              <a:t>Graded </a:t>
            </a:r>
            <a:r>
              <a:rPr lang="en-US" sz="1400" b="1" dirty="0"/>
              <a:t>A, B, C, D</a:t>
            </a:r>
            <a:r>
              <a:rPr lang="en-US" sz="1400" dirty="0"/>
              <a:t>; Grade A has very high strength and good appearance.</a:t>
            </a:r>
          </a:p>
          <a:p>
            <a:pPr>
              <a:buFontTx/>
              <a:buChar char="•"/>
              <a:tabLst>
                <a:tab pos="5029200" algn="r"/>
              </a:tabLst>
            </a:pPr>
            <a:r>
              <a:rPr lang="en-US" sz="1400" dirty="0"/>
              <a:t>Uses: flooring, furniture, roofs, partitions, wall panels.</a:t>
            </a:r>
          </a:p>
          <a:p>
            <a:pPr>
              <a:buFontTx/>
              <a:buChar char="•"/>
              <a:tabLst>
                <a:tab pos="5029200" algn="r"/>
              </a:tabLst>
            </a:pPr>
            <a:r>
              <a:rPr lang="en-US" sz="1400" b="1" dirty="0"/>
              <a:t>Pros</a:t>
            </a:r>
            <a:r>
              <a:rPr lang="en-US" sz="1400" dirty="0"/>
              <a:t>: natural wood grain, good water &amp; compression resistance, easy to cut, glue, paint; resistant to insects.</a:t>
            </a:r>
          </a:p>
          <a:p>
            <a:pPr>
              <a:buFontTx/>
              <a:buChar char="•"/>
              <a:tabLst>
                <a:tab pos="5029200" algn="r"/>
              </a:tabLst>
            </a:pPr>
            <a:r>
              <a:rPr lang="en-US" sz="1400" b="1" dirty="0"/>
              <a:t>Cons</a:t>
            </a:r>
            <a:r>
              <a:rPr lang="en-US" sz="1400" dirty="0"/>
              <a:t>: not all types suit outdoor use; quality depends on veneers and glue; relatively </a:t>
            </a:r>
            <a:r>
              <a:rPr lang="en-US" sz="1400" b="1" dirty="0"/>
              <a:t>expensive</a:t>
            </a:r>
            <a:r>
              <a:rPr lang="en-US" sz="1400" dirty="0"/>
              <a:t>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436C81-5529-4DB5-097D-DF39648D9D15}"/>
              </a:ext>
            </a:extLst>
          </p:cNvPr>
          <p:cNvSpPr/>
          <p:nvPr/>
        </p:nvSpPr>
        <p:spPr>
          <a:xfrm>
            <a:off x="381960" y="1705378"/>
            <a:ext cx="9002185" cy="685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7F0EECEA-C522-6454-D120-7B4B71DA37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1650" y="744017"/>
            <a:ext cx="11188700" cy="757255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26241B1A-04A3-D82B-12BA-63B622F8DEDC}"/>
              </a:ext>
            </a:extLst>
          </p:cNvPr>
          <p:cNvSpPr txBox="1">
            <a:spLocks/>
          </p:cNvSpPr>
          <p:nvPr/>
        </p:nvSpPr>
        <p:spPr>
          <a:xfrm>
            <a:off x="381960" y="4202239"/>
            <a:ext cx="9002185" cy="206925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000" b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b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b="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5029200" algn="r"/>
              </a:tabLst>
            </a:pPr>
            <a:r>
              <a:rPr lang="en-US" sz="1400" b="1" dirty="0"/>
              <a:t>Blockboard</a:t>
            </a:r>
          </a:p>
          <a:p>
            <a:pPr>
              <a:buFontTx/>
              <a:buChar char="•"/>
              <a:tabLst>
                <a:tab pos="5029200" algn="r"/>
              </a:tabLst>
            </a:pPr>
            <a:r>
              <a:rPr lang="en-US" sz="1400" dirty="0"/>
              <a:t>A type of plywood using a </a:t>
            </a:r>
            <a:r>
              <a:rPr lang="en-US" sz="1400" b="1" dirty="0"/>
              <a:t>softwood block core </a:t>
            </a:r>
            <a:r>
              <a:rPr lang="en-US" sz="1400" dirty="0"/>
              <a:t>sandwiched between veneers.</a:t>
            </a:r>
          </a:p>
          <a:p>
            <a:pPr>
              <a:buFontTx/>
              <a:buChar char="•"/>
              <a:tabLst>
                <a:tab pos="5029200" algn="r"/>
              </a:tabLst>
            </a:pPr>
            <a:r>
              <a:rPr lang="en-US" sz="1400" dirty="0"/>
              <a:t>Fabricated from </a:t>
            </a:r>
            <a:r>
              <a:rPr lang="en-US" sz="1400" b="1" dirty="0"/>
              <a:t>softwood + hardwood</a:t>
            </a:r>
            <a:r>
              <a:rPr lang="en-US" sz="1400" dirty="0"/>
              <a:t>, giving strength, stability and a smooth surface.</a:t>
            </a:r>
          </a:p>
          <a:p>
            <a:pPr>
              <a:buFontTx/>
              <a:buChar char="•"/>
              <a:tabLst>
                <a:tab pos="5029200" algn="r"/>
              </a:tabLst>
            </a:pPr>
            <a:r>
              <a:rPr lang="en-US" sz="1400" dirty="0"/>
              <a:t>Used for tables, cabinets, wardrobes, doors, wall panels, ceilings, etc.</a:t>
            </a:r>
          </a:p>
          <a:p>
            <a:pPr>
              <a:buFontTx/>
              <a:buChar char="•"/>
              <a:tabLst>
                <a:tab pos="5029200" algn="r"/>
              </a:tabLst>
            </a:pPr>
            <a:r>
              <a:rPr lang="en-US" sz="1400" b="1" dirty="0"/>
              <a:t>Pros</a:t>
            </a:r>
            <a:r>
              <a:rPr lang="en-US" sz="1400" dirty="0"/>
              <a:t>: strong, lightweight, smooth, easy to finish; many thicknesses; less warping.</a:t>
            </a:r>
          </a:p>
          <a:p>
            <a:pPr>
              <a:buFontTx/>
              <a:buChar char="•"/>
              <a:tabLst>
                <a:tab pos="5029200" algn="r"/>
              </a:tabLst>
            </a:pPr>
            <a:r>
              <a:rPr lang="en-US" sz="1400" b="1" dirty="0"/>
              <a:t>Cons</a:t>
            </a:r>
            <a:r>
              <a:rPr lang="en-US" sz="1400" dirty="0"/>
              <a:t>: usually </a:t>
            </a:r>
            <a:r>
              <a:rPr lang="en-US" sz="1400" b="1" dirty="0"/>
              <a:t>less durable than plywood</a:t>
            </a:r>
            <a:r>
              <a:rPr lang="en-US" sz="1400" dirty="0"/>
              <a:t>; not ideal for outdoors or high humidity areas.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1A7B5C-44CD-3EB4-DF70-DDFC30722EAD}"/>
              </a:ext>
            </a:extLst>
          </p:cNvPr>
          <p:cNvSpPr/>
          <p:nvPr/>
        </p:nvSpPr>
        <p:spPr>
          <a:xfrm>
            <a:off x="381960" y="4005233"/>
            <a:ext cx="9002185" cy="685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4" name="Slide Number Placeholder 43">
            <a:extLst>
              <a:ext uri="{FF2B5EF4-FFF2-40B4-BE49-F238E27FC236}">
                <a16:creationId xmlns:a16="http://schemas.microsoft.com/office/drawing/2014/main" id="{1AC2BBCA-C43A-628D-D590-3DCC086E2A61}"/>
              </a:ext>
            </a:extLst>
          </p:cNvPr>
          <p:cNvSpPr txBox="1">
            <a:spLocks/>
          </p:cNvSpPr>
          <p:nvPr/>
        </p:nvSpPr>
        <p:spPr>
          <a:xfrm>
            <a:off x="8610600" y="649287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2B39849-C024-4E78-B92E-190B74CFFC73}" type="slidenum">
              <a:rPr lang="en-US" sz="1000" smtClean="0"/>
              <a:pPr algn="r"/>
              <a:t>10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337186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>
        <p:push dir="u"/>
      </p:transition>
    </mc:Choice>
    <mc:Fallback>
      <p:transition spd="slow" advClick="0" advTm="100">
        <p:push dir="u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0D5897-6B51-3277-B9B5-4E8784041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9EA4F0E-E0BC-1DA6-FEBD-C95E44F67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Plywood &amp; Blockboard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259C22B3-C58B-1011-7D95-8949E1674A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1650" y="744017"/>
            <a:ext cx="11188700" cy="757255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69FAC4C-4FA8-07CA-C2E6-90AA764F1821}"/>
              </a:ext>
            </a:extLst>
          </p:cNvPr>
          <p:cNvGrpSpPr/>
          <p:nvPr/>
        </p:nvGrpSpPr>
        <p:grpSpPr>
          <a:xfrm>
            <a:off x="381960" y="1593688"/>
            <a:ext cx="9334695" cy="863185"/>
            <a:chOff x="381960" y="1593688"/>
            <a:chExt cx="9002185" cy="863185"/>
          </a:xfrm>
        </p:grpSpPr>
        <p:sp>
          <p:nvSpPr>
            <p:cNvPr id="9" name="Text Placeholder 8">
              <a:extLst>
                <a:ext uri="{FF2B5EF4-FFF2-40B4-BE49-F238E27FC236}">
                  <a16:creationId xmlns:a16="http://schemas.microsoft.com/office/drawing/2014/main" id="{6E14A156-B22F-BFF5-0527-4AAD1E2524A9}"/>
                </a:ext>
              </a:extLst>
            </p:cNvPr>
            <p:cNvSpPr txBox="1">
              <a:spLocks/>
            </p:cNvSpPr>
            <p:nvPr/>
          </p:nvSpPr>
          <p:spPr>
            <a:xfrm>
              <a:off x="381960" y="1902385"/>
              <a:ext cx="9002185" cy="554488"/>
            </a:xfrm>
            <a:prstGeom prst="rect">
              <a:avLst/>
            </a:prstGeom>
            <a:ln w="22225">
              <a:solidFill>
                <a:schemeClr val="accent1"/>
              </a:solidFill>
            </a:ln>
          </p:spPr>
          <p:txBody>
            <a:bodyPr vert="horz" lIns="0" tIns="0" rIns="0" bIns="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lang="en-US" sz="28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2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2000" b="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800" b="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800" b="0" kern="120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91440" indent="0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None/>
                <a:tabLst>
                  <a:tab pos="5029200" algn="r"/>
                </a:tabLst>
              </a:pPr>
              <a:r>
                <a:rPr lang="en-US" sz="1400" dirty="0"/>
                <a:t>Softwood block core with veneers.</a:t>
              </a:r>
            </a:p>
            <a:p>
              <a:pPr marL="91440" indent="0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None/>
                <a:tabLst>
                  <a:tab pos="5029200" algn="r"/>
                </a:tabLst>
              </a:pPr>
              <a:r>
                <a:rPr lang="en-US" sz="1400" dirty="0"/>
                <a:t>For general purpose furniture and interior work in homes and offices.</a:t>
              </a:r>
            </a:p>
          </p:txBody>
        </p:sp>
        <p:sp>
          <p:nvSpPr>
            <p:cNvPr id="4" name="Text Placeholder 8">
              <a:extLst>
                <a:ext uri="{FF2B5EF4-FFF2-40B4-BE49-F238E27FC236}">
                  <a16:creationId xmlns:a16="http://schemas.microsoft.com/office/drawing/2014/main" id="{40F11E8B-5542-C53A-E402-691C3AD85910}"/>
                </a:ext>
              </a:extLst>
            </p:cNvPr>
            <p:cNvSpPr txBox="1">
              <a:spLocks/>
            </p:cNvSpPr>
            <p:nvPr/>
          </p:nvSpPr>
          <p:spPr>
            <a:xfrm>
              <a:off x="381960" y="1593688"/>
              <a:ext cx="9002185" cy="299766"/>
            </a:xfrm>
            <a:prstGeom prst="rect">
              <a:avLst/>
            </a:prstGeom>
            <a:solidFill>
              <a:schemeClr val="accent1"/>
            </a:solidFill>
            <a:ln w="22225">
              <a:solidFill>
                <a:schemeClr val="accent1"/>
              </a:solidFill>
            </a:ln>
          </p:spPr>
          <p:txBody>
            <a:bodyPr vert="horz" lIns="0" tIns="0" rIns="0" bIns="0" rtlCol="0" anchor="ctr" anchorCtr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lang="en-US" sz="28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2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2000" b="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800" b="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800" b="0" kern="120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91440" indent="0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None/>
                <a:tabLst>
                  <a:tab pos="5029200" algn="r"/>
                </a:tabLst>
              </a:pPr>
              <a:r>
                <a:rPr lang="en-US" sz="1400" dirty="0">
                  <a:solidFill>
                    <a:schemeClr val="bg1"/>
                  </a:solidFill>
                </a:rPr>
                <a:t>Standard Blockboard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EA6541F-D8E4-D080-0605-C25444FB9CA3}"/>
              </a:ext>
            </a:extLst>
          </p:cNvPr>
          <p:cNvGrpSpPr/>
          <p:nvPr/>
        </p:nvGrpSpPr>
        <p:grpSpPr>
          <a:xfrm>
            <a:off x="381960" y="2812725"/>
            <a:ext cx="9334695" cy="863185"/>
            <a:chOff x="381960" y="1593688"/>
            <a:chExt cx="9002185" cy="863185"/>
          </a:xfrm>
        </p:grpSpPr>
        <p:sp>
          <p:nvSpPr>
            <p:cNvPr id="8" name="Text Placeholder 8">
              <a:extLst>
                <a:ext uri="{FF2B5EF4-FFF2-40B4-BE49-F238E27FC236}">
                  <a16:creationId xmlns:a16="http://schemas.microsoft.com/office/drawing/2014/main" id="{0E35945E-CC6E-DBC5-9DE1-8D5F76C4AB23}"/>
                </a:ext>
              </a:extLst>
            </p:cNvPr>
            <p:cNvSpPr txBox="1">
              <a:spLocks/>
            </p:cNvSpPr>
            <p:nvPr/>
          </p:nvSpPr>
          <p:spPr>
            <a:xfrm>
              <a:off x="381960" y="1902385"/>
              <a:ext cx="9002185" cy="554488"/>
            </a:xfrm>
            <a:prstGeom prst="rect">
              <a:avLst/>
            </a:prstGeom>
            <a:ln w="22225">
              <a:solidFill>
                <a:schemeClr val="accent1"/>
              </a:solidFill>
            </a:ln>
          </p:spPr>
          <p:txBody>
            <a:bodyPr vert="horz" lIns="0" tIns="0" rIns="0" bIns="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lang="en-US" sz="28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2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2000" b="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800" b="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800" b="0" kern="120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91440" indent="0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None/>
                <a:tabLst>
                  <a:tab pos="5029200" algn="r"/>
                </a:tabLst>
              </a:pPr>
              <a:r>
                <a:rPr lang="en-US" sz="1400" dirty="0"/>
                <a:t>Treated for moisture resistance; withstands water and humidity.</a:t>
              </a:r>
            </a:p>
            <a:p>
              <a:pPr marL="91440" indent="0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None/>
                <a:tabLst>
                  <a:tab pos="5029200" algn="r"/>
                </a:tabLst>
              </a:pPr>
              <a:r>
                <a:rPr lang="en-US" sz="1400" dirty="0"/>
                <a:t>Used in kitchens, bathrooms, damp areas.</a:t>
              </a:r>
            </a:p>
          </p:txBody>
        </p:sp>
        <p:sp>
          <p:nvSpPr>
            <p:cNvPr id="10" name="Text Placeholder 8">
              <a:extLst>
                <a:ext uri="{FF2B5EF4-FFF2-40B4-BE49-F238E27FC236}">
                  <a16:creationId xmlns:a16="http://schemas.microsoft.com/office/drawing/2014/main" id="{E94AB9F1-DD5A-3F97-5A45-A518E079284A}"/>
                </a:ext>
              </a:extLst>
            </p:cNvPr>
            <p:cNvSpPr txBox="1">
              <a:spLocks/>
            </p:cNvSpPr>
            <p:nvPr/>
          </p:nvSpPr>
          <p:spPr>
            <a:xfrm>
              <a:off x="381960" y="1593688"/>
              <a:ext cx="9002185" cy="299766"/>
            </a:xfrm>
            <a:prstGeom prst="rect">
              <a:avLst/>
            </a:prstGeom>
            <a:solidFill>
              <a:schemeClr val="accent1"/>
            </a:solidFill>
            <a:ln w="22225">
              <a:solidFill>
                <a:schemeClr val="accent1"/>
              </a:solidFill>
            </a:ln>
          </p:spPr>
          <p:txBody>
            <a:bodyPr vert="horz" lIns="0" tIns="0" rIns="0" bIns="0" rtlCol="0" anchor="ctr" anchorCtr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lang="en-US" sz="28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2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2000" b="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800" b="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800" b="0" kern="120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91440" indent="0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None/>
                <a:tabLst>
                  <a:tab pos="5029200" algn="r"/>
                </a:tabLst>
              </a:pPr>
              <a:r>
                <a:rPr lang="en-US" sz="1400" dirty="0">
                  <a:solidFill>
                    <a:schemeClr val="bg1"/>
                  </a:solidFill>
                </a:rPr>
                <a:t>Marine Blockboard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703BB3A-2F26-B29F-F07D-64B2C7F1F206}"/>
              </a:ext>
            </a:extLst>
          </p:cNvPr>
          <p:cNvGrpSpPr/>
          <p:nvPr/>
        </p:nvGrpSpPr>
        <p:grpSpPr>
          <a:xfrm>
            <a:off x="381960" y="4031762"/>
            <a:ext cx="9334695" cy="863185"/>
            <a:chOff x="381960" y="1593688"/>
            <a:chExt cx="9002185" cy="863185"/>
          </a:xfrm>
        </p:grpSpPr>
        <p:sp>
          <p:nvSpPr>
            <p:cNvPr id="13" name="Text Placeholder 8">
              <a:extLst>
                <a:ext uri="{FF2B5EF4-FFF2-40B4-BE49-F238E27FC236}">
                  <a16:creationId xmlns:a16="http://schemas.microsoft.com/office/drawing/2014/main" id="{E99E2CEF-5314-0A9A-614E-C45ACC65B389}"/>
                </a:ext>
              </a:extLst>
            </p:cNvPr>
            <p:cNvSpPr txBox="1">
              <a:spLocks/>
            </p:cNvSpPr>
            <p:nvPr/>
          </p:nvSpPr>
          <p:spPr>
            <a:xfrm>
              <a:off x="381960" y="1902385"/>
              <a:ext cx="9002185" cy="554488"/>
            </a:xfrm>
            <a:prstGeom prst="rect">
              <a:avLst/>
            </a:prstGeom>
            <a:ln w="22225">
              <a:solidFill>
                <a:schemeClr val="accent1"/>
              </a:solidFill>
            </a:ln>
          </p:spPr>
          <p:txBody>
            <a:bodyPr vert="horz" lIns="0" tIns="0" rIns="0" bIns="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lang="en-US" sz="28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2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2000" b="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800" b="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800" b="0" kern="120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91440" indent="0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None/>
                <a:tabLst>
                  <a:tab pos="5029200" algn="r"/>
                </a:tabLst>
              </a:pPr>
              <a:r>
                <a:rPr lang="en-US" sz="1400" dirty="0"/>
                <a:t>Treated with special fire retardant chemicals.</a:t>
              </a:r>
            </a:p>
            <a:p>
              <a:pPr marL="91440" indent="0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None/>
                <a:tabLst>
                  <a:tab pos="5029200" algn="r"/>
                </a:tabLst>
              </a:pPr>
              <a:r>
                <a:rPr lang="en-US" sz="1400" dirty="0"/>
                <a:t>Used where fire safety is critical: public buildings, industries.</a:t>
              </a:r>
            </a:p>
          </p:txBody>
        </p:sp>
        <p:sp>
          <p:nvSpPr>
            <p:cNvPr id="14" name="Text Placeholder 8">
              <a:extLst>
                <a:ext uri="{FF2B5EF4-FFF2-40B4-BE49-F238E27FC236}">
                  <a16:creationId xmlns:a16="http://schemas.microsoft.com/office/drawing/2014/main" id="{2DDFAF03-9797-BD56-2DB1-A3465485EF40}"/>
                </a:ext>
              </a:extLst>
            </p:cNvPr>
            <p:cNvSpPr txBox="1">
              <a:spLocks/>
            </p:cNvSpPr>
            <p:nvPr/>
          </p:nvSpPr>
          <p:spPr>
            <a:xfrm>
              <a:off x="381960" y="1593688"/>
              <a:ext cx="9002185" cy="299766"/>
            </a:xfrm>
            <a:prstGeom prst="rect">
              <a:avLst/>
            </a:prstGeom>
            <a:solidFill>
              <a:schemeClr val="accent1"/>
            </a:solidFill>
            <a:ln w="22225">
              <a:solidFill>
                <a:schemeClr val="accent1"/>
              </a:solidFill>
            </a:ln>
          </p:spPr>
          <p:txBody>
            <a:bodyPr vert="horz" lIns="0" tIns="0" rIns="0" bIns="0" rtlCol="0" anchor="ctr" anchorCtr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lang="en-US" sz="28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2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2000" b="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800" b="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800" b="0" kern="120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91440" indent="0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None/>
                <a:tabLst>
                  <a:tab pos="5029200" algn="r"/>
                </a:tabLst>
              </a:pPr>
              <a:r>
                <a:rPr lang="en-US" sz="1400" dirty="0">
                  <a:solidFill>
                    <a:schemeClr val="bg1"/>
                  </a:solidFill>
                </a:rPr>
                <a:t>Fire Retardant Blockboard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667D126-BFDC-22BF-7BB9-AE1406F1EB4E}"/>
              </a:ext>
            </a:extLst>
          </p:cNvPr>
          <p:cNvGrpSpPr/>
          <p:nvPr/>
        </p:nvGrpSpPr>
        <p:grpSpPr>
          <a:xfrm>
            <a:off x="381960" y="5250798"/>
            <a:ext cx="9334695" cy="863185"/>
            <a:chOff x="381960" y="1593688"/>
            <a:chExt cx="9002185" cy="863185"/>
          </a:xfrm>
        </p:grpSpPr>
        <p:sp>
          <p:nvSpPr>
            <p:cNvPr id="16" name="Text Placeholder 8">
              <a:extLst>
                <a:ext uri="{FF2B5EF4-FFF2-40B4-BE49-F238E27FC236}">
                  <a16:creationId xmlns:a16="http://schemas.microsoft.com/office/drawing/2014/main" id="{A99340A7-E8EE-9EF8-AD9F-6690FE5977C7}"/>
                </a:ext>
              </a:extLst>
            </p:cNvPr>
            <p:cNvSpPr txBox="1">
              <a:spLocks/>
            </p:cNvSpPr>
            <p:nvPr/>
          </p:nvSpPr>
          <p:spPr>
            <a:xfrm>
              <a:off x="381960" y="1902385"/>
              <a:ext cx="9002185" cy="554488"/>
            </a:xfrm>
            <a:prstGeom prst="rect">
              <a:avLst/>
            </a:prstGeom>
            <a:ln w="22225">
              <a:solidFill>
                <a:schemeClr val="accent1"/>
              </a:solidFill>
            </a:ln>
          </p:spPr>
          <p:txBody>
            <a:bodyPr vert="horz" lIns="0" tIns="0" rIns="0" bIns="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lang="en-US" sz="28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2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2000" b="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800" b="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800" b="0" kern="120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91440" indent="0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None/>
                <a:tabLst>
                  <a:tab pos="5029200" algn="r"/>
                </a:tabLst>
              </a:pPr>
              <a:r>
                <a:rPr lang="en-US" sz="1400" dirty="0"/>
                <a:t>Faced with high quality decorative veneers.</a:t>
              </a:r>
            </a:p>
            <a:p>
              <a:pPr marL="91440" indent="0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None/>
                <a:tabLst>
                  <a:tab pos="5029200" algn="r"/>
                </a:tabLst>
              </a:pPr>
              <a:r>
                <a:rPr lang="en-US" sz="1400" dirty="0"/>
                <a:t>For premium furniture and interiors where aesthetics are important.</a:t>
              </a:r>
            </a:p>
          </p:txBody>
        </p:sp>
        <p:sp>
          <p:nvSpPr>
            <p:cNvPr id="17" name="Text Placeholder 8">
              <a:extLst>
                <a:ext uri="{FF2B5EF4-FFF2-40B4-BE49-F238E27FC236}">
                  <a16:creationId xmlns:a16="http://schemas.microsoft.com/office/drawing/2014/main" id="{5848953C-E040-BC3E-161E-60A860A271A5}"/>
                </a:ext>
              </a:extLst>
            </p:cNvPr>
            <p:cNvSpPr txBox="1">
              <a:spLocks/>
            </p:cNvSpPr>
            <p:nvPr/>
          </p:nvSpPr>
          <p:spPr>
            <a:xfrm>
              <a:off x="381960" y="1593688"/>
              <a:ext cx="9002185" cy="299766"/>
            </a:xfrm>
            <a:prstGeom prst="rect">
              <a:avLst/>
            </a:prstGeom>
            <a:solidFill>
              <a:schemeClr val="accent1"/>
            </a:solidFill>
            <a:ln w="22225">
              <a:solidFill>
                <a:schemeClr val="accent1"/>
              </a:solidFill>
            </a:ln>
          </p:spPr>
          <p:txBody>
            <a:bodyPr vert="horz" lIns="0" tIns="0" rIns="0" bIns="0" rtlCol="0" anchor="ctr" anchorCtr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lang="en-US" sz="28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2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2000" b="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800" b="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en-US" sz="1800" b="0" kern="120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91440" indent="0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None/>
                <a:tabLst>
                  <a:tab pos="5029200" algn="r"/>
                </a:tabLst>
              </a:pPr>
              <a:r>
                <a:rPr lang="en-US" sz="1400" dirty="0">
                  <a:solidFill>
                    <a:schemeClr val="bg1"/>
                  </a:solidFill>
                </a:rPr>
                <a:t>Decorative Blockboard</a:t>
              </a:r>
            </a:p>
          </p:txBody>
        </p:sp>
      </p:grpSp>
      <p:sp>
        <p:nvSpPr>
          <p:cNvPr id="18" name="Slide Number Placeholder 43">
            <a:extLst>
              <a:ext uri="{FF2B5EF4-FFF2-40B4-BE49-F238E27FC236}">
                <a16:creationId xmlns:a16="http://schemas.microsoft.com/office/drawing/2014/main" id="{06B606A6-CDDB-D8B2-D67A-A1080B3D4769}"/>
              </a:ext>
            </a:extLst>
          </p:cNvPr>
          <p:cNvSpPr txBox="1">
            <a:spLocks/>
          </p:cNvSpPr>
          <p:nvPr/>
        </p:nvSpPr>
        <p:spPr>
          <a:xfrm>
            <a:off x="8610600" y="649287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2B39849-C024-4E78-B92E-190B74CFFC73}" type="slidenum">
              <a:rPr lang="en-US" sz="1000" smtClean="0"/>
              <a:pPr algn="r"/>
              <a:t>11</a:t>
            </a:fld>
            <a:endParaRPr lang="en-US" sz="1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75EEFAF-EBDC-5406-8839-5FF868398E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2909" y="1616778"/>
            <a:ext cx="2315730" cy="46314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322352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>
        <p:push dir="u"/>
      </p:transition>
    </mc:Choice>
    <mc:Fallback>
      <p:transition spd="slow" advClick="0" advTm="100">
        <p:push dir="u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EA31FC-5C81-3F23-1788-460560B31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6B9B2B3-FC0F-6AAD-D362-0355C0D90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Fiberboard &amp; OSB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370A3D42-FD89-0285-9DA4-22EEE59149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1650" y="744017"/>
            <a:ext cx="11188700" cy="757255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C085A30E-F880-45FB-82EE-0EC1D67EE5DE}"/>
              </a:ext>
            </a:extLst>
          </p:cNvPr>
          <p:cNvSpPr txBox="1">
            <a:spLocks/>
          </p:cNvSpPr>
          <p:nvPr/>
        </p:nvSpPr>
        <p:spPr>
          <a:xfrm>
            <a:off x="381960" y="1593688"/>
            <a:ext cx="11043422" cy="299766"/>
          </a:xfrm>
          <a:prstGeom prst="rect">
            <a:avLst/>
          </a:prstGeom>
          <a:solidFill>
            <a:schemeClr val="accent1"/>
          </a:solidFill>
          <a:ln w="22225">
            <a:solidFill>
              <a:schemeClr val="accent1"/>
            </a:solidFill>
          </a:ln>
        </p:spPr>
        <p:txBody>
          <a:bodyPr vert="horz" lIns="0" tIns="0" rIns="0" bIns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000" b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b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b="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inden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  <a:tabLst>
                <a:tab pos="5029200" algn="r"/>
              </a:tabLst>
            </a:pPr>
            <a:r>
              <a:rPr lang="en-US" sz="1400" dirty="0">
                <a:solidFill>
                  <a:schemeClr val="bg1"/>
                </a:solidFill>
              </a:rPr>
              <a:t>Fiberboard (MDF, LDF, HDF)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2C80ED24-E238-1171-7212-15FCFB607585}"/>
              </a:ext>
            </a:extLst>
          </p:cNvPr>
          <p:cNvSpPr txBox="1">
            <a:spLocks/>
          </p:cNvSpPr>
          <p:nvPr/>
        </p:nvSpPr>
        <p:spPr>
          <a:xfrm>
            <a:off x="381960" y="1902384"/>
            <a:ext cx="11043422" cy="2438707"/>
          </a:xfrm>
          <a:prstGeom prst="rect">
            <a:avLst/>
          </a:prstGeom>
          <a:ln w="2222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000" b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b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b="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77190" indent="-2857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tabLst>
                <a:tab pos="5029200" algn="r"/>
              </a:tabLst>
            </a:pPr>
            <a:r>
              <a:rPr lang="en-US" sz="1400" dirty="0"/>
              <a:t>Made from wood fibers + resin, pressed at high temperature and pressure.</a:t>
            </a:r>
          </a:p>
          <a:p>
            <a:pPr marL="377190" indent="-2857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tabLst>
                <a:tab pos="5029200" algn="r"/>
              </a:tabLst>
            </a:pPr>
            <a:r>
              <a:rPr lang="en-US" sz="1400" dirty="0"/>
              <a:t>Denser and stronger than particleboard; good abrasion resistance.</a:t>
            </a:r>
          </a:p>
          <a:p>
            <a:pPr marL="377190" indent="-2857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tabLst>
                <a:tab pos="5029200" algn="r"/>
              </a:tabLst>
            </a:pPr>
            <a:r>
              <a:rPr lang="en-US" sz="1400" dirty="0"/>
              <a:t>Types:</a:t>
            </a:r>
          </a:p>
          <a:p>
            <a:pPr marL="640080" indent="-2857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o"/>
              <a:tabLst>
                <a:tab pos="5029200" algn="r"/>
              </a:tabLst>
            </a:pPr>
            <a:r>
              <a:rPr lang="en-US" sz="1400" b="1" dirty="0"/>
              <a:t>MDF</a:t>
            </a:r>
            <a:r>
              <a:rPr lang="en-US" sz="1400" dirty="0"/>
              <a:t> – medium density, stronger than LDF, less than HDF; can withstand some weather change.</a:t>
            </a:r>
          </a:p>
          <a:p>
            <a:pPr marL="640080" indent="-2857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o"/>
              <a:tabLst>
                <a:tab pos="5029200" algn="r"/>
              </a:tabLst>
            </a:pPr>
            <a:r>
              <a:rPr lang="en-US" sz="1400" b="1" dirty="0"/>
              <a:t>LDF </a:t>
            </a:r>
            <a:r>
              <a:rPr lang="en-US" sz="1400" dirty="0"/>
              <a:t>– low density, similar to particleboard.</a:t>
            </a:r>
          </a:p>
          <a:p>
            <a:pPr marL="640080" indent="-2857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o"/>
              <a:tabLst>
                <a:tab pos="5029200" algn="r"/>
              </a:tabLst>
            </a:pPr>
            <a:r>
              <a:rPr lang="en-US" sz="1400" b="1" dirty="0"/>
              <a:t>HDF</a:t>
            </a:r>
            <a:r>
              <a:rPr lang="en-US" sz="1400" dirty="0"/>
              <a:t> – high density, harder and more durable than MDF.</a:t>
            </a:r>
          </a:p>
          <a:p>
            <a:pPr marL="377190" indent="-2857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tabLst>
                <a:tab pos="5029200" algn="r"/>
              </a:tabLst>
            </a:pPr>
            <a:r>
              <a:rPr lang="en-US" sz="1400" dirty="0"/>
              <a:t>Popular for furniture, partitions, sound proofing, thermal insulation.</a:t>
            </a:r>
          </a:p>
          <a:p>
            <a:pPr marL="377190" indent="-2857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tabLst>
                <a:tab pos="5029200" algn="r"/>
              </a:tabLst>
            </a:pPr>
            <a:r>
              <a:rPr lang="en-US" sz="1400" b="1" dirty="0"/>
              <a:t>Pros</a:t>
            </a:r>
            <a:r>
              <a:rPr lang="en-US" sz="1400" dirty="0"/>
              <a:t>: smooth, uniform, no voids; ideal for paint or wallpaper; cheaper than plywood; eco friendly use of fibers.</a:t>
            </a:r>
          </a:p>
          <a:p>
            <a:pPr marL="377190" indent="-2857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tabLst>
                <a:tab pos="5029200" algn="r"/>
              </a:tabLst>
            </a:pPr>
            <a:r>
              <a:rPr lang="en-US" sz="1400" b="1" dirty="0"/>
              <a:t>Cons</a:t>
            </a:r>
            <a:r>
              <a:rPr lang="en-US" sz="1400" dirty="0"/>
              <a:t>: generally </a:t>
            </a:r>
            <a:r>
              <a:rPr lang="en-US" sz="1400" b="1" dirty="0"/>
              <a:t>not moisture resistant</a:t>
            </a:r>
            <a:r>
              <a:rPr lang="en-US" sz="1400" dirty="0"/>
              <a:t>; less durable than plywood; can be slower to nail and install.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BF66D82A-E9B3-0025-3904-65685E429638}"/>
              </a:ext>
            </a:extLst>
          </p:cNvPr>
          <p:cNvSpPr txBox="1">
            <a:spLocks/>
          </p:cNvSpPr>
          <p:nvPr/>
        </p:nvSpPr>
        <p:spPr>
          <a:xfrm>
            <a:off x="381960" y="4798706"/>
            <a:ext cx="11043422" cy="299766"/>
          </a:xfrm>
          <a:prstGeom prst="rect">
            <a:avLst/>
          </a:prstGeom>
          <a:solidFill>
            <a:schemeClr val="accent1"/>
          </a:solidFill>
          <a:ln w="22225">
            <a:solidFill>
              <a:schemeClr val="accent1"/>
            </a:solidFill>
          </a:ln>
        </p:spPr>
        <p:txBody>
          <a:bodyPr vert="horz" lIns="0" tIns="0" rIns="0" bIns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000" b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b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b="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inden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  <a:tabLst>
                <a:tab pos="5029200" algn="r"/>
              </a:tabLst>
            </a:pPr>
            <a:r>
              <a:rPr lang="en-US" sz="1400" dirty="0">
                <a:solidFill>
                  <a:schemeClr val="bg1"/>
                </a:solidFill>
              </a:rPr>
              <a:t>Oriented Strand Board (OSB)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764B6CB5-485B-AD74-CB2F-5D9B05FF6156}"/>
              </a:ext>
            </a:extLst>
          </p:cNvPr>
          <p:cNvSpPr txBox="1">
            <a:spLocks/>
          </p:cNvSpPr>
          <p:nvPr/>
        </p:nvSpPr>
        <p:spPr>
          <a:xfrm>
            <a:off x="381960" y="5107403"/>
            <a:ext cx="11043422" cy="1099434"/>
          </a:xfrm>
          <a:prstGeom prst="rect">
            <a:avLst/>
          </a:prstGeom>
          <a:ln w="2222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000" b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b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b="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77190" indent="-2857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tabLst>
                <a:tab pos="5029200" algn="r"/>
              </a:tabLst>
            </a:pPr>
            <a:r>
              <a:rPr lang="en-US" sz="1400" dirty="0"/>
              <a:t>Engineered panel of oriented wood strands bonded with resin in cross layers.</a:t>
            </a:r>
          </a:p>
          <a:p>
            <a:pPr marL="377190" indent="-2857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tabLst>
                <a:tab pos="5029200" algn="r"/>
              </a:tabLst>
            </a:pPr>
            <a:r>
              <a:rPr lang="en-US" sz="1400" dirty="0"/>
              <a:t>Used for wall framing, floor/roof sheathing, packaging, DIY and some furniture.</a:t>
            </a:r>
          </a:p>
          <a:p>
            <a:pPr marL="377190" indent="-2857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tabLst>
                <a:tab pos="5029200" algn="r"/>
              </a:tabLst>
            </a:pPr>
            <a:r>
              <a:rPr lang="en-US" sz="1400" dirty="0"/>
              <a:t>Pros: cheaper than plywood; good strength and load bearing; easy to cut and drill.</a:t>
            </a:r>
          </a:p>
          <a:p>
            <a:pPr marL="377190" indent="-2857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tabLst>
                <a:tab pos="5029200" algn="r"/>
              </a:tabLst>
            </a:pPr>
            <a:r>
              <a:rPr lang="en-US" sz="1400" dirty="0"/>
              <a:t>Cons: can swell and warp in humidity; usually not as durable as plywood for structural work.</a:t>
            </a:r>
          </a:p>
        </p:txBody>
      </p:sp>
      <p:sp>
        <p:nvSpPr>
          <p:cNvPr id="19" name="Slide Number Placeholder 43">
            <a:extLst>
              <a:ext uri="{FF2B5EF4-FFF2-40B4-BE49-F238E27FC236}">
                <a16:creationId xmlns:a16="http://schemas.microsoft.com/office/drawing/2014/main" id="{19B2FD49-505A-6E6F-F2A4-4250F9C97A9D}"/>
              </a:ext>
            </a:extLst>
          </p:cNvPr>
          <p:cNvSpPr txBox="1">
            <a:spLocks/>
          </p:cNvSpPr>
          <p:nvPr/>
        </p:nvSpPr>
        <p:spPr>
          <a:xfrm>
            <a:off x="8610600" y="649287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2B39849-C024-4E78-B92E-190B74CFFC73}" type="slidenum">
              <a:rPr lang="en-US" sz="1000" smtClean="0"/>
              <a:pPr algn="r"/>
              <a:t>12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99349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>
        <p:push dir="u"/>
      </p:transition>
    </mc:Choice>
    <mc:Fallback>
      <p:transition spd="slow" advClick="0" advTm="100">
        <p:push dir="u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AC918-D836-668B-643B-3CA90BBC1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E915D46-851E-8FC5-8719-9F545F37E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Veneer &amp; Laminated Wood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18A529B9-ECCD-267B-8ACF-8FB329624F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1650" y="744017"/>
            <a:ext cx="11188700" cy="757255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05FDB3FA-7B20-1779-4E66-F2A4A92FC37E}"/>
              </a:ext>
            </a:extLst>
          </p:cNvPr>
          <p:cNvSpPr txBox="1">
            <a:spLocks/>
          </p:cNvSpPr>
          <p:nvPr/>
        </p:nvSpPr>
        <p:spPr>
          <a:xfrm>
            <a:off x="381960" y="1593688"/>
            <a:ext cx="9002185" cy="299766"/>
          </a:xfrm>
          <a:prstGeom prst="rect">
            <a:avLst/>
          </a:prstGeom>
          <a:solidFill>
            <a:schemeClr val="accent1"/>
          </a:solidFill>
          <a:ln w="22225">
            <a:solidFill>
              <a:schemeClr val="accent1"/>
            </a:solidFill>
          </a:ln>
        </p:spPr>
        <p:txBody>
          <a:bodyPr vert="horz" lIns="0" tIns="0" rIns="0" bIns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000" b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b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b="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inden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  <a:tabLst>
                <a:tab pos="5029200" algn="r"/>
              </a:tabLst>
            </a:pPr>
            <a:r>
              <a:rPr lang="en-US" sz="1400" dirty="0">
                <a:solidFill>
                  <a:schemeClr val="bg1"/>
                </a:solidFill>
              </a:rPr>
              <a:t>Veneer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366CECB-1FD1-25FF-51B5-8DC48139CAD4}"/>
              </a:ext>
            </a:extLst>
          </p:cNvPr>
          <p:cNvSpPr txBox="1">
            <a:spLocks/>
          </p:cNvSpPr>
          <p:nvPr/>
        </p:nvSpPr>
        <p:spPr>
          <a:xfrm>
            <a:off x="381960" y="1902384"/>
            <a:ext cx="9002185" cy="1413471"/>
          </a:xfrm>
          <a:prstGeom prst="rect">
            <a:avLst/>
          </a:prstGeom>
          <a:ln w="2222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000" b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b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b="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77190" indent="-2857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tabLst>
                <a:tab pos="5029200" algn="r"/>
              </a:tabLst>
            </a:pPr>
            <a:r>
              <a:rPr lang="en-US" sz="1400" b="1" dirty="0"/>
              <a:t>Thin slices of natural wood</a:t>
            </a:r>
            <a:r>
              <a:rPr lang="en-US" sz="1400" dirty="0"/>
              <a:t> glued onto plywood, MDF, particleboard or solid wood.</a:t>
            </a:r>
          </a:p>
          <a:p>
            <a:pPr marL="377190" indent="-2857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tabLst>
                <a:tab pos="5029200" algn="r"/>
              </a:tabLst>
            </a:pPr>
            <a:r>
              <a:rPr lang="en-US" sz="1400" dirty="0"/>
              <a:t>Gives the </a:t>
            </a:r>
            <a:r>
              <a:rPr lang="en-US" sz="1400" b="1" dirty="0"/>
              <a:t>appearance of expensive solid timber </a:t>
            </a:r>
            <a:r>
              <a:rPr lang="en-US" sz="1400" dirty="0"/>
              <a:t>at lower cost.</a:t>
            </a:r>
          </a:p>
          <a:p>
            <a:pPr marL="377190" indent="-2857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tabLst>
                <a:tab pos="5029200" algn="r"/>
              </a:tabLst>
            </a:pPr>
            <a:r>
              <a:rPr lang="en-US" sz="1400" dirty="0"/>
              <a:t>Uses: furniture, doors, decorative panels, pianos, guitars, other instruments.</a:t>
            </a:r>
          </a:p>
          <a:p>
            <a:pPr marL="377190" indent="-2857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tabLst>
                <a:tab pos="5029200" algn="r"/>
              </a:tabLst>
            </a:pPr>
            <a:r>
              <a:rPr lang="en-US" sz="1400" b="1" dirty="0"/>
              <a:t>Pros</a:t>
            </a:r>
            <a:r>
              <a:rPr lang="en-US" sz="1400" dirty="0"/>
              <a:t>: allows use of rare woods; wide range of colors and grains; many patterns and styles possible.</a:t>
            </a:r>
          </a:p>
          <a:p>
            <a:pPr marL="377190" indent="-2857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tabLst>
                <a:tab pos="5029200" algn="r"/>
              </a:tabLst>
            </a:pPr>
            <a:r>
              <a:rPr lang="en-US" sz="1400" b="1" dirty="0"/>
              <a:t>Cons</a:t>
            </a:r>
            <a:r>
              <a:rPr lang="en-US" sz="1400" dirty="0"/>
              <a:t>: thin layer is </a:t>
            </a:r>
            <a:r>
              <a:rPr lang="en-US" sz="1400" b="1" dirty="0"/>
              <a:t>easily scratched or damaged</a:t>
            </a:r>
            <a:r>
              <a:rPr lang="en-US" sz="1400" dirty="0"/>
              <a:t>; repairs are harder than with solid wood.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EE7D11C7-7D3E-31C2-AD68-6EE5F2C17E76}"/>
              </a:ext>
            </a:extLst>
          </p:cNvPr>
          <p:cNvSpPr txBox="1">
            <a:spLocks/>
          </p:cNvSpPr>
          <p:nvPr/>
        </p:nvSpPr>
        <p:spPr>
          <a:xfrm>
            <a:off x="381960" y="3708815"/>
            <a:ext cx="9002185" cy="299766"/>
          </a:xfrm>
          <a:prstGeom prst="rect">
            <a:avLst/>
          </a:prstGeom>
          <a:solidFill>
            <a:schemeClr val="accent1"/>
          </a:solidFill>
          <a:ln w="22225">
            <a:solidFill>
              <a:schemeClr val="accent1"/>
            </a:solidFill>
          </a:ln>
        </p:spPr>
        <p:txBody>
          <a:bodyPr vert="horz" lIns="0" tIns="0" rIns="0" bIns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000" b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b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b="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inden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  <a:tabLst>
                <a:tab pos="5029200" algn="r"/>
              </a:tabLst>
            </a:pPr>
            <a:r>
              <a:rPr lang="en-US" sz="1400" dirty="0">
                <a:solidFill>
                  <a:schemeClr val="bg1"/>
                </a:solidFill>
              </a:rPr>
              <a:t>Laminated Wood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5758303D-AC4A-16F0-190B-D2457C5A97F4}"/>
              </a:ext>
            </a:extLst>
          </p:cNvPr>
          <p:cNvSpPr txBox="1">
            <a:spLocks/>
          </p:cNvSpPr>
          <p:nvPr/>
        </p:nvSpPr>
        <p:spPr>
          <a:xfrm>
            <a:off x="381960" y="4017511"/>
            <a:ext cx="9002185" cy="1902997"/>
          </a:xfrm>
          <a:prstGeom prst="rect">
            <a:avLst/>
          </a:prstGeom>
          <a:ln w="2222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000" b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b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b="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77190" indent="-2857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tabLst>
                <a:tab pos="5029200" algn="r"/>
              </a:tabLst>
            </a:pPr>
            <a:r>
              <a:rPr lang="en-US" sz="1400" dirty="0"/>
              <a:t>Built by </a:t>
            </a:r>
            <a:r>
              <a:rPr lang="en-US" sz="1400" b="1" dirty="0"/>
              <a:t>parallel gluing lumber boards </a:t>
            </a:r>
            <a:r>
              <a:rPr lang="en-US" sz="1400" dirty="0"/>
              <a:t>(or veneers) into larger members: beams, arches, furniture parts, sporting goods.</a:t>
            </a:r>
          </a:p>
          <a:p>
            <a:pPr marL="377190" indent="-2857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tabLst>
                <a:tab pos="5029200" algn="r"/>
              </a:tabLst>
            </a:pPr>
            <a:r>
              <a:rPr lang="en-US" sz="1400" b="1" dirty="0"/>
              <a:t>Advantages:</a:t>
            </a:r>
          </a:p>
          <a:p>
            <a:pPr marL="377190" indent="-2857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tabLst>
                <a:tab pos="5029200" algn="r"/>
              </a:tabLst>
            </a:pPr>
            <a:r>
              <a:rPr lang="en-US" sz="1400" dirty="0"/>
              <a:t>Can make </a:t>
            </a:r>
            <a:r>
              <a:rPr lang="en-US" sz="1400" b="1" dirty="0"/>
              <a:t>large sizes and curved shapes </a:t>
            </a:r>
            <a:r>
              <a:rPr lang="en-US" sz="1400" dirty="0"/>
              <a:t>not possible with solid wood.</a:t>
            </a:r>
          </a:p>
          <a:p>
            <a:pPr marL="377190" indent="-2857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tabLst>
                <a:tab pos="5029200" algn="r"/>
              </a:tabLst>
            </a:pPr>
            <a:r>
              <a:rPr lang="en-US" sz="1400" dirty="0"/>
              <a:t>Boards can be </a:t>
            </a:r>
            <a:r>
              <a:rPr lang="en-US" sz="1400" b="1" dirty="0"/>
              <a:t>well dried</a:t>
            </a:r>
            <a:r>
              <a:rPr lang="en-US" sz="1400" dirty="0"/>
              <a:t>; defects like knots can be cut out.</a:t>
            </a:r>
          </a:p>
          <a:p>
            <a:pPr marL="377190" indent="-2857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tabLst>
                <a:tab pos="5029200" algn="r"/>
              </a:tabLst>
            </a:pPr>
            <a:r>
              <a:rPr lang="en-US" sz="1400" dirty="0"/>
              <a:t>High grade wood placed only where needed; </a:t>
            </a:r>
            <a:r>
              <a:rPr lang="en-US" sz="1400" b="1" dirty="0"/>
              <a:t>low grade and small pieces </a:t>
            </a:r>
            <a:r>
              <a:rPr lang="en-US" sz="1400" dirty="0"/>
              <a:t>used elsewhere → less waste.</a:t>
            </a:r>
          </a:p>
          <a:p>
            <a:pPr marL="377190" indent="-2857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tabLst>
                <a:tab pos="5029200" algn="r"/>
              </a:tabLst>
            </a:pPr>
            <a:r>
              <a:rPr lang="en-US" sz="1400" dirty="0"/>
              <a:t>Members can be designed exactly for the </a:t>
            </a:r>
            <a:r>
              <a:rPr lang="en-US" sz="1400" b="1" dirty="0"/>
              <a:t>required strength</a:t>
            </a:r>
            <a:r>
              <a:rPr lang="en-US" sz="1400" dirty="0"/>
              <a:t>.</a:t>
            </a:r>
          </a:p>
        </p:txBody>
      </p:sp>
      <p:sp>
        <p:nvSpPr>
          <p:cNvPr id="6" name="Slide Number Placeholder 43">
            <a:extLst>
              <a:ext uri="{FF2B5EF4-FFF2-40B4-BE49-F238E27FC236}">
                <a16:creationId xmlns:a16="http://schemas.microsoft.com/office/drawing/2014/main" id="{23D49495-47F4-098E-28F1-A1F69C430CB2}"/>
              </a:ext>
            </a:extLst>
          </p:cNvPr>
          <p:cNvSpPr txBox="1">
            <a:spLocks/>
          </p:cNvSpPr>
          <p:nvPr/>
        </p:nvSpPr>
        <p:spPr>
          <a:xfrm>
            <a:off x="8610600" y="649287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2B39849-C024-4E78-B92E-190B74CFFC73}" type="slidenum">
              <a:rPr lang="en-US" sz="1000" smtClean="0"/>
              <a:pPr algn="r"/>
              <a:t>13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715693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">
        <p:push dir="u"/>
      </p:transition>
    </mc:Choice>
    <mc:Fallback>
      <p:transition spd="slow" advClick="0" advTm="100">
        <p:push dir="u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1556</Words>
  <Application>Microsoft Office PowerPoint</Application>
  <PresentationFormat>Widescreen</PresentationFormat>
  <Paragraphs>233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ＭＳ Ｐゴシック</vt:lpstr>
      <vt:lpstr>Aptos</vt:lpstr>
      <vt:lpstr>Aptos Display</vt:lpstr>
      <vt:lpstr>Arial</vt:lpstr>
      <vt:lpstr>Courier New</vt:lpstr>
      <vt:lpstr>Times New Roman</vt:lpstr>
      <vt:lpstr>Office Theme</vt:lpstr>
      <vt:lpstr>Materials and Methods in interiors</vt:lpstr>
      <vt:lpstr>CONSTRUCTION MATERIAL</vt:lpstr>
      <vt:lpstr>Introduction to Building Materials</vt:lpstr>
      <vt:lpstr>Bricks &amp; Stones</vt:lpstr>
      <vt:lpstr>Cement &amp; Mortar</vt:lpstr>
      <vt:lpstr>R.C.C. (Reinforced Cement Concrete)</vt:lpstr>
      <vt:lpstr>Metals &amp; Plastics in Interiors</vt:lpstr>
      <vt:lpstr>Wood &amp; Timber</vt:lpstr>
      <vt:lpstr>Manufactured Wood</vt:lpstr>
      <vt:lpstr>Plywood &amp; Blockboard</vt:lpstr>
      <vt:lpstr>Plywood &amp; Blockboard</vt:lpstr>
      <vt:lpstr>Fiberboard &amp; OSB</vt:lpstr>
      <vt:lpstr>Veneer &amp; Laminated Wood</vt:lpstr>
    </vt:vector>
  </TitlesOfParts>
  <Company>Broadridge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Shaik, MohammedHameed</dc:creator>
  <cp:lastModifiedBy>Shaik, MohammedHameed</cp:lastModifiedBy>
  <cp:revision>12</cp:revision>
  <dcterms:created xsi:type="dcterms:W3CDTF">2025-12-15T14:09:29Z</dcterms:created>
  <dcterms:modified xsi:type="dcterms:W3CDTF">2025-12-15T18:33:48Z</dcterms:modified>
</cp:coreProperties>
</file>